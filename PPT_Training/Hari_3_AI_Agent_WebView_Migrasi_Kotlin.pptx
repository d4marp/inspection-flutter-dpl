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08.30–08.35. ALOKASI: 5 menit.</a:t>
            </a:r>
          </a:p>
          <a:p/>
          <a:p>
            <a:r>
              <a:t>TUJUAN: Menyepakati hasil Hari 3.</a:t>
            </a:r>
          </a:p>
          <a:p/>
          <a:p>
            <a:r>
              <a:t>ARAHAN TRAINER: Preview empat tab Migration Lab dan artefak handover.</a:t>
            </a:r>
          </a:p>
          <a:p/>
          <a:p>
            <a:r>
              <a:t>PERTANYAAN DISKUSI: Apa beda rewrite dan vertical slice?</a:t>
            </a:r>
          </a:p>
          <a:p/>
          <a:p>
            <a:r>
              <a:t>RUJUKAN: Project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08.35–08.45. ALOKASI: 10 menit.</a:t>
            </a:r>
          </a:p>
          <a:p/>
          <a:p>
            <a:r>
              <a:t>TUJUAN: Menentukan evidence.</a:t>
            </a:r>
          </a:p>
          <a:p/>
          <a:p>
            <a:r>
              <a:t>ARAHAN TRAINER: Minta peserta membedakan code, parity, security, dan build evidence.</a:t>
            </a:r>
          </a:p>
          <a:p/>
          <a:p>
            <a:r>
              <a:t>PERTANYAAN DISKUSI: Mana yang tetap perlu device test?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08.45–08.50. ALOKASI: 5 menit.</a:t>
            </a:r>
          </a:p>
          <a:p/>
          <a:p>
            <a:r>
              <a:t>TUJUAN: Menjelaskan alokasi 6,5 jam.</a:t>
            </a:r>
          </a:p>
          <a:p/>
          <a:p>
            <a:r>
              <a:t>ARAHAN TRAINER: Tandai empat challenge dan checkpoint.</a:t>
            </a:r>
          </a:p>
          <a:p/>
          <a:p>
            <a:r>
              <a:t>PERTANYAAN DISKUSI: Blok mana tidak boleh dilewati?</a:t>
            </a:r>
          </a:p>
          <a:p/>
          <a:p>
            <a:r>
              <a:t>RUJUKAN: Rundown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08.50–09.00. ALOKASI: 10 menit.</a:t>
            </a:r>
          </a:p>
          <a:p/>
          <a:p>
            <a:r>
              <a:t>TUJUAN: Membangun migration mindset.</a:t>
            </a:r>
          </a:p>
          <a:p/>
          <a:p>
            <a:r>
              <a:t>ARAHAN TRAINER: Gunakan satu contoh behavior tersembunyi dari app Kotlin.</a:t>
            </a:r>
          </a:p>
          <a:p/>
          <a:p>
            <a:r>
              <a:t>PERTANYAAN DISKUSI: Apa yang screenshot tidak buktikan?</a:t>
            </a:r>
          </a:p>
          <a:p/>
          <a:p>
            <a:r>
              <a:t>RUJUKAN: Migration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09.00–09.02. ALOKASI: 2 menit.</a:t>
            </a:r>
          </a:p>
          <a:p/>
          <a:p>
            <a:r>
              <a:t>TUJUAN: Membuka inventory.</a:t>
            </a:r>
          </a:p>
          <a:p/>
          <a:p>
            <a:r>
              <a:t>ARAHAN TRAINER: Mulai dari user flow, bukan folder demi folder.</a:t>
            </a:r>
          </a:p>
          <a:p/>
          <a:p>
            <a:r>
              <a:t>PERTANYAAN DISKUSI: Apa entry point slice?</a:t>
            </a:r>
          </a:p>
          <a:p/>
          <a:p>
            <a:r>
              <a:t>RUJUKAN: Legacy sample.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09.02–09.15. ALOKASI: 13 menit.</a:t>
            </a:r>
          </a:p>
          <a:p/>
          <a:p>
            <a:r>
              <a:t>TUJUAN: Memilih source relevan.</a:t>
            </a:r>
          </a:p>
          <a:p/>
          <a:p>
            <a:r>
              <a:t>ARAHAN TRAINER: Minta peserta menandai entry, state owner, dan side effect.</a:t>
            </a:r>
          </a:p>
          <a:p/>
          <a:p>
            <a:r>
              <a:t>PERTANYAAN DISKUSI: File mana hanya dekorasi?</a:t>
            </a:r>
          </a:p>
          <a:p/>
          <a:p>
            <a:r>
              <a:t>RUJUKAN: Legacy inventory.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09.15–09.28. ALOKASI: 13 menit.</a:t>
            </a:r>
          </a:p>
          <a:p/>
          <a:p>
            <a:r>
              <a:t>TUJUAN: Membuat behavior trace.</a:t>
            </a:r>
          </a:p>
          <a:p/>
          <a:p>
            <a:r>
              <a:t>ARAHAN TRAINER: Trace tap item sampai detail dan kembali.</a:t>
            </a:r>
          </a:p>
          <a:p/>
          <a:p>
            <a:r>
              <a:t>PERTANYAAN DISKUSI: Di mana request dapat terulang?</a:t>
            </a:r>
          </a:p>
          <a:p/>
          <a:p>
            <a:r>
              <a:t>RUJUKAN: Behavior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09.28–09.40. ALOKASI: 12 menit.</a:t>
            </a:r>
          </a:p>
          <a:p/>
          <a:p>
            <a:r>
              <a:t>TUJUAN: Memisahkan evidence.</a:t>
            </a:r>
          </a:p>
          <a:p/>
          <a:p>
            <a:r>
              <a:t>ARAHAN TRAINER: Tandai tiap temuan F/I/U.</a:t>
            </a:r>
          </a:p>
          <a:p/>
          <a:p>
            <a:r>
              <a:t>PERTANYAAN DISKUSI: Kapan unknown memblokir implementasi?</a:t>
            </a:r>
          </a:p>
          <a:p/>
          <a:p>
            <a:r>
              <a:t>RUJUKAN: Trace worksheet.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09.40–09.50. ALOKASI: 10 menit.</a:t>
            </a:r>
          </a:p>
          <a:p/>
          <a:p>
            <a:r>
              <a:t>TUJUAN: Memotong scope.</a:t>
            </a:r>
          </a:p>
          <a:p/>
          <a:p>
            <a:r>
              <a:t>ARAHAN TRAINER: Pilih list→detail sebagai slice kelas.</a:t>
            </a:r>
          </a:p>
          <a:p/>
          <a:p>
            <a:r>
              <a:t>PERTANYAAN DISKUSI: Apa dependency minimum slice?</a:t>
            </a:r>
          </a:p>
          <a:p/>
          <a:p>
            <a:r>
              <a:t>RUJUKAN: PRD slice.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09.50–10.35. ALOKASI: 45 menit.</a:t>
            </a:r>
          </a:p>
          <a:p/>
          <a:p>
            <a:r>
              <a:t>TUJUAN: Membuat behavior map.</a:t>
            </a:r>
          </a:p>
          <a:p/>
          <a:p>
            <a:r>
              <a:t>ARAHAN TRAINER: Review berpasangan dengan pertanyaan evidence.</a:t>
            </a:r>
          </a:p>
          <a:p/>
          <a:p>
            <a:r>
              <a:t>PERTANYAAN DISKUSI: Temuan mana masih unknown?</a:t>
            </a:r>
          </a:p>
          <a:p/>
          <a:p>
            <a:r>
              <a:t>RUJUKAN: Behavior map template.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10.35–10.37. ALOKASI: 2 menit.</a:t>
            </a:r>
          </a:p>
          <a:p/>
          <a:p>
            <a:r>
              <a:t>TUJUAN: Membuka PRD.</a:t>
            </a:r>
          </a:p>
          <a:p/>
          <a:p>
            <a:r>
              <a:t>ARAHAN TRAINER: Hubungkan behavior map ke keputusan produk.</a:t>
            </a:r>
          </a:p>
          <a:p/>
          <a:p>
            <a:r>
              <a:t>PERTANYAAN DISKUSI: Siapa menyetujui parity?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10.37–10.50. ALOKASI: 13 menit.</a:t>
            </a:r>
          </a:p>
          <a:p/>
          <a:p>
            <a:r>
              <a:t>TUJUAN: Menulis PRD minimum.</a:t>
            </a:r>
          </a:p>
          <a:p/>
          <a:p>
            <a:r>
              <a:t>ARAHAN TRAINER: Buka PRD_MIGRASI_KOTLIN.md.</a:t>
            </a:r>
          </a:p>
          <a:p/>
          <a:p>
            <a:r>
              <a:t>PERTANYAAN DISKUSI: Bagian mana mengurangi scope creep?</a:t>
            </a:r>
          </a:p>
          <a:p/>
          <a:p>
            <a:r>
              <a:t>RUJUKAN: Project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10.50–11.02. ALOKASI: 12 menit.</a:t>
            </a:r>
          </a:p>
          <a:p/>
          <a:p>
            <a:r>
              <a:t>TUJUAN: Memperbaiki AC.</a:t>
            </a:r>
          </a:p>
          <a:p/>
          <a:p>
            <a:r>
              <a:t>ARAHAN TRAINER: Ubah satu kalimat lemah menjadi skenario terukur.</a:t>
            </a:r>
          </a:p>
          <a:p/>
          <a:p>
            <a:r>
              <a:t>PERTANYAAN DISKUSI: Bukti apa yang dibutuhkan AC?</a:t>
            </a:r>
          </a:p>
          <a:p/>
          <a:p>
            <a:r>
              <a:t>RUJUKAN: PRD acceptance.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11.02–11.15. ALOKASI: 13 menit.</a:t>
            </a:r>
          </a:p>
          <a:p/>
          <a:p>
            <a:r>
              <a:t>TUJUAN: Membangun matriks.</a:t>
            </a:r>
          </a:p>
          <a:p/>
          <a:p>
            <a:r>
              <a:t>ARAHAN TRAINER: Isi satu baris dari hasil lab.</a:t>
            </a:r>
          </a:p>
          <a:p/>
          <a:p>
            <a:r>
              <a:t>PERTANYAAN DISKUSI: AC mana belum punya evidence?</a:t>
            </a:r>
          </a:p>
          <a:p/>
          <a:p>
            <a:r>
              <a:t>RUJUKAN: Traceability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11.15–11.27. ALOKASI: 12 menit.</a:t>
            </a:r>
          </a:p>
          <a:p/>
          <a:p>
            <a:r>
              <a:t>TUJUAN: Mengidentifikasi risiko.</a:t>
            </a:r>
          </a:p>
          <a:p/>
          <a:p>
            <a:r>
              <a:t>ARAHAN TRAINER: Beri owner dan mitigation pada tiga risiko.</a:t>
            </a:r>
          </a:p>
          <a:p/>
          <a:p>
            <a:r>
              <a:t>PERTANYAAN DISKUSI: Risiko mana harus diputus sebelum agent bekerja?</a:t>
            </a:r>
          </a:p>
          <a:p/>
          <a:p>
            <a:r>
              <a:t>RUJUKAN: Risk register.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11.27–12.12. ALOKASI: 45 menit.</a:t>
            </a:r>
          </a:p>
          <a:p/>
          <a:p>
            <a:r>
              <a:t>TUJUAN: Menyelesaikan PRD.</a:t>
            </a:r>
          </a:p>
          <a:p/>
          <a:p>
            <a:r>
              <a:t>ARAHAN TRAINER: Gunakan peer review; trainer hanya mengklarifikasi contract.</a:t>
            </a:r>
          </a:p>
          <a:p/>
          <a:p>
            <a:r>
              <a:t>PERTANYAAN DISKUSI: AC mana masih ambigu?</a:t>
            </a:r>
          </a:p>
          <a:p/>
          <a:p>
            <a:r>
              <a:t>RUJUKAN: PRD Hari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13.00–13.02. ALOKASI: 2 menit.</a:t>
            </a:r>
          </a:p>
          <a:p/>
          <a:p>
            <a:r>
              <a:t>TUJUAN: Membuka mapping.</a:t>
            </a:r>
          </a:p>
          <a:p/>
          <a:p>
            <a:r>
              <a:t>ARAHAN TRAINER: Bandingkan architecture sebagai responsibility.</a:t>
            </a:r>
          </a:p>
          <a:p/>
          <a:p>
            <a:r>
              <a:t>PERTANYAAN DISKUSI: Apa yang harus tetap sama?</a:t>
            </a:r>
          </a:p>
          <a:p/>
          <a:p>
            <a:r>
              <a:t>RUJUKAN: Migration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13.02–13.15. ALOKASI: 13 menit.</a:t>
            </a:r>
          </a:p>
          <a:p/>
          <a:p>
            <a:r>
              <a:t>TUJUAN: Memetakan presentation layer.</a:t>
            </a:r>
          </a:p>
          <a:p/>
          <a:p>
            <a:r>
              <a:t>ARAHAN TRAINER: Trace list screen source Hari 3.</a:t>
            </a:r>
          </a:p>
          <a:p/>
          <a:p>
            <a:r>
              <a:t>PERTANYAAN DISKUSI: Di mana stable ID dipakai?</a:t>
            </a:r>
          </a:p>
          <a:p/>
          <a:p>
            <a:r>
              <a:t>RUJUKAN: Flutter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13.15–13.28. ALOKASI: 13 menit.</a:t>
            </a:r>
          </a:p>
          <a:p/>
          <a:p>
            <a:r>
              <a:t>TUJUAN: Memetakan state/lifecycle.</a:t>
            </a:r>
          </a:p>
          <a:p/>
          <a:p>
            <a:r>
              <a:t>ARAHAN TRAINER: Tentukan kapan load, refresh, dan dispose.</a:t>
            </a:r>
          </a:p>
          <a:p/>
          <a:p>
            <a:r>
              <a:t>PERTANYAAN DISKUSI: State apa harus survive restart?</a:t>
            </a:r>
          </a:p>
          <a:p/>
          <a:p>
            <a:r>
              <a:t>RUJUKAN: State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13.28–13.41. ALOKASI: 13 menit.</a:t>
            </a:r>
          </a:p>
          <a:p/>
          <a:p>
            <a:r>
              <a:t>TUJUAN: Menjaga API contract.</a:t>
            </a:r>
          </a:p>
          <a:p/>
          <a:p>
            <a:r>
              <a:t>ARAHAN TRAINER: Bandingkan OpenAPI dan model target.</a:t>
            </a:r>
          </a:p>
          <a:p/>
          <a:p>
            <a:r>
              <a:t>PERTANYAAN DISKUSI: Perbedaan mana bug versus product decision?</a:t>
            </a:r>
          </a:p>
          <a:p/>
          <a:p>
            <a:r>
              <a:t>RUJUKAN: OpenAPI.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13.41–13.54. ALOKASI: 13 menit.</a:t>
            </a:r>
          </a:p>
          <a:p/>
          <a:p>
            <a:r>
              <a:t>TUJUAN: Memetakan boundary.</a:t>
            </a:r>
          </a:p>
          <a:p/>
          <a:p>
            <a:r>
              <a:t>ARAHAN TRAINER: Gunakan PhotoPanel sebagai contoh plugin lifecycle.</a:t>
            </a:r>
          </a:p>
          <a:p/>
          <a:p>
            <a:r>
              <a:t>PERTANYAAN DISKUSI: Apa yang widget test tidak buktikan?</a:t>
            </a:r>
          </a:p>
          <a:p/>
          <a:p>
            <a:r>
              <a:t>RUJUKAN: Day3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13.54–14.06. ALOKASI: 12 menit.</a:t>
            </a:r>
          </a:p>
          <a:p/>
          <a:p>
            <a:r>
              <a:t>TUJUAN: Mengenali anti-pattern.</a:t>
            </a:r>
          </a:p>
          <a:p/>
          <a:p>
            <a:r>
              <a:t>ARAHAN TRAINER: Review satu mapping yang terlalu literal.</a:t>
            </a:r>
          </a:p>
          <a:p/>
          <a:p>
            <a:r>
              <a:t>PERTANYAAN DISKUSI: Apa keputusan target yang harus didokumentasikan?</a:t>
            </a:r>
          </a:p>
          <a:p/>
          <a:p>
            <a:r>
              <a:t>RUJUKAN: Migration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14.06–15.06. ALOKASI: 60 menit.</a:t>
            </a:r>
          </a:p>
          <a:p/>
          <a:p>
            <a:r>
              <a:t>TUJUAN: Menyelesaikan mapping.</a:t>
            </a:r>
          </a:p>
          <a:p/>
          <a:p>
            <a:r>
              <a:t>ARAHAN TRAINER: Review target files sebelum patch.</a:t>
            </a:r>
          </a:p>
          <a:p/>
          <a:p>
            <a:r>
              <a:t>PERTANYAAN DISKUSI: Responsibility mana belum punya owner?</a:t>
            </a:r>
          </a:p>
          <a:p/>
          <a:p>
            <a:r>
              <a:t>RUJUKAN: Migration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2 menit.</a:t>
            </a:r>
          </a:p>
          <a:p/>
          <a:p>
            <a:r>
              <a:t>TUJUAN: Membuka Agent Skill.</a:t>
            </a:r>
          </a:p>
          <a:p/>
          <a:p>
            <a:r>
              <a:t>ARAHAN TRAINER: Tunjukkan file skill nyata pada repo.</a:t>
            </a:r>
          </a:p>
          <a:p/>
          <a:p>
            <a:r>
              <a:t>PERTANYAAN DISKUSI: Apa yang skill standardisasi?</a:t>
            </a:r>
          </a:p>
          <a:p/>
          <a:p>
            <a:r>
              <a:t>RUJUKAN: SKILL.md.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15 menit.</a:t>
            </a:r>
          </a:p>
          <a:p/>
          <a:p>
            <a:r>
              <a:t>TUJUAN: Memahami skill structure.</a:t>
            </a:r>
          </a:p>
          <a:p/>
          <a:p>
            <a:r>
              <a:t>ARAHAN TRAINER: Buka SKILL.md dan validasi frontmatter.</a:t>
            </a:r>
          </a:p>
          <a:p/>
          <a:p>
            <a:r>
              <a:t>PERTANYAAN DISKUSI: Apa beda skill dan prompt?</a:t>
            </a:r>
          </a:p>
          <a:p/>
          <a:p>
            <a:r>
              <a:t>RUJUKAN: OpenCode skills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13 menit.</a:t>
            </a:r>
          </a:p>
          <a:p/>
          <a:p>
            <a:r>
              <a:t>TUJUAN: Menyiapkan context.</a:t>
            </a:r>
          </a:p>
          <a:p/>
          <a:p>
            <a:r>
              <a:t>ARAHAN TRAINER: Sanitasi file sebelum prompt.</a:t>
            </a:r>
          </a:p>
          <a:p/>
          <a:p>
            <a:r>
              <a:t>PERTANYAAN DISKUSI: File mana tidak perlu agent lihat?</a:t>
            </a:r>
          </a:p>
          <a:p/>
          <a:p>
            <a:r>
              <a:t>RUJUKAN: AI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13 menit.</a:t>
            </a:r>
          </a:p>
          <a:p/>
          <a:p>
            <a:r>
              <a:t>TUJUAN: Menulis prompt terkontrol.</a:t>
            </a:r>
          </a:p>
          <a:p/>
          <a:p>
            <a:r>
              <a:t>ARAHAN TRAINER: Gunakan contoh pada screen Agent Skill.</a:t>
            </a:r>
          </a:p>
          <a:p/>
          <a:p>
            <a:r>
              <a:t>PERTANYAAN DISKUSI: Constraint mana mencegah WebView melebar?</a:t>
            </a:r>
          </a:p>
          <a:p/>
          <a:p>
            <a:r>
              <a:t>RUJUKAN: AI playbook.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13 menit.</a:t>
            </a:r>
          </a:p>
          <a:p/>
          <a:p>
            <a:r>
              <a:t>TUJUAN: Menetapkan approval flow.</a:t>
            </a:r>
          </a:p>
          <a:p/>
          <a:p>
            <a:r>
              <a:t>ARAHAN TRAINER: Simulasikan output agent yang perlu ditolak.</a:t>
            </a:r>
          </a:p>
          <a:p/>
          <a:p>
            <a:r>
              <a:t>PERTANYAAN DISKUSI: Siapa bertanggung jawab atas merge?</a:t>
            </a:r>
          </a:p>
          <a:p/>
          <a:p>
            <a:r>
              <a:t>RUJUKAN: Review checklist.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Agent. ALOKASI: 45 menit.</a:t>
            </a:r>
          </a:p>
          <a:p/>
          <a:p>
            <a:r>
              <a:t>TUJUAN: Memakai skill.</a:t>
            </a:r>
          </a:p>
          <a:p/>
          <a:p>
            <a:r>
              <a:t>ARAHAN TRAINER: Trainer mengaudit diff dan klaim test.</a:t>
            </a:r>
          </a:p>
          <a:p/>
          <a:p>
            <a:r>
              <a:t>PERTANYAAN DISKUSI: Agent mengarang apa?</a:t>
            </a:r>
          </a:p>
          <a:p/>
          <a:p>
            <a:r>
              <a:t>RUJUKAN: migrate-kotlin-slice skill.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2 menit.</a:t>
            </a:r>
          </a:p>
          <a:p/>
          <a:p>
            <a:r>
              <a:t>TUJUAN: Membuka WebView.</a:t>
            </a:r>
          </a:p>
          <a:p/>
          <a:p>
            <a:r>
              <a:t>ARAHAN TRAINER: Tegaskan satu situs HTTPS, exact-host allowlist, dan tanpa JS bridge.</a:t>
            </a:r>
          </a:p>
          <a:p/>
          <a:p>
            <a:r>
              <a:t>PERTANYAAN DISKUSI: Mengapa WebView bukan shortcut migrasi?</a:t>
            </a:r>
          </a:p>
          <a:p/>
          <a:p>
            <a:r>
              <a:t>RUJUKAN: WebView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15 menit.</a:t>
            </a:r>
          </a:p>
          <a:p/>
          <a:p>
            <a:r>
              <a:t>TUJUAN: Mengenalkan struktur WebView modular.</a:t>
            </a:r>
          </a:p>
          <a:p/>
          <a:p>
            <a:r>
              <a:t>ARAHAN TRAINER: Buka tiga file satu per satu, dimulai dari policy yang paling kecil.</a:t>
            </a:r>
          </a:p>
          <a:p/>
          <a:p>
            <a:r>
              <a:t>PERTANYAAN DISKUSI: Bagian mana dapat diuji tanpa device?</a:t>
            </a:r>
          </a:p>
          <a:p/>
          <a:p>
            <a:r>
              <a:t>RUJUKAN: lib/src/webview + TrainingWebViewScreen.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13 menit.</a:t>
            </a:r>
          </a:p>
          <a:p/>
          <a:p>
            <a:r>
              <a:t>TUJUAN: Membedah controller factory.</a:t>
            </a:r>
          </a:p>
          <a:p/>
          <a:p>
            <a:r>
              <a:t>ARAHAN TRAINER: Buka migration_webview_controller.dart lalu cocokkan callback ke screen.</a:t>
            </a:r>
          </a:p>
          <a:p/>
          <a:p>
            <a:r>
              <a:t>PERTANYAAN DISKUSI: Apa yang berubah bila URL remote?</a:t>
            </a:r>
          </a:p>
          <a:p/>
          <a:p>
            <a:r>
              <a:t>RUJUKAN: webview_flutter controller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15 menit.</a:t>
            </a:r>
          </a:p>
          <a:p/>
          <a:p>
            <a:r>
              <a:t>TUJUAN: Membedah policy default-deny.</a:t>
            </a:r>
          </a:p>
          <a:p/>
          <a:p>
            <a:r>
              <a:t>ARAHAN TRAINER: Jalankan unit test untuk dua host, HTTP, fake subdomain, file, dan javascript.</a:t>
            </a:r>
          </a:p>
          <a:p/>
          <a:p>
            <a:r>
              <a:t>PERTANYAAN DISKUSI: Mengapa pencocokan string URL berbahaya?</a:t>
            </a:r>
          </a:p>
          <a:p/>
          <a:p>
            <a:r>
              <a:t>RUJUKAN: navigation_policy.dart + WebView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12 menit.</a:t>
            </a:r>
          </a:p>
          <a:p/>
          <a:p>
            <a:r>
              <a:t>TUJUAN: Mendesain lifecycle.</a:t>
            </a:r>
          </a:p>
          <a:p/>
          <a:p>
            <a:r>
              <a:t>ARAHAN TRAINER: Diskusikan Android back pada history kosong/berisi.</a:t>
            </a:r>
          </a:p>
          <a:p/>
          <a:p>
            <a:r>
              <a:t>PERTANYAAN DISKUSI: Apa yang dibersihkan saat logout?</a:t>
            </a:r>
          </a:p>
          <a:p/>
          <a:p>
            <a:r>
              <a:t>RUJUKAN: WebView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WebView. ALOKASI: 60 menit.</a:t>
            </a:r>
          </a:p>
          <a:p/>
          <a:p>
            <a:r>
              <a:t>TUJUAN: Mengimplementasikan WebView aman.</a:t>
            </a:r>
          </a:p>
          <a:p/>
          <a:p>
            <a:r>
              <a:t>ARAHAN TRAINER: Uji pada emulator/device karena platform view.</a:t>
            </a:r>
          </a:p>
          <a:p/>
          <a:p>
            <a:r>
              <a:t>PERTANYAAN DISKUSI: Evidence mana manual?</a:t>
            </a:r>
          </a:p>
          <a:p/>
          <a:p>
            <a:r>
              <a:t>RUJUKAN: TrainingWebViewScreen.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Quality. ALOKASI: 13 menit.</a:t>
            </a:r>
          </a:p>
          <a:p/>
          <a:p>
            <a:r>
              <a:t>TUJUAN: Memilih test sesuai risiko.</a:t>
            </a:r>
          </a:p>
          <a:p/>
          <a:p>
            <a:r>
              <a:t>ARAHAN TRAINER: Map setiap AC ke satu evidence minimal.</a:t>
            </a:r>
          </a:p>
          <a:p/>
          <a:p>
            <a:r>
              <a:t>PERTANYAAN DISKUSI: Apa yang butuh device?</a:t>
            </a:r>
          </a:p>
          <a:p/>
          <a:p>
            <a:r>
              <a:t>RUJUKAN: Test matrix.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Quality. ALOKASI: 15 menit.</a:t>
            </a:r>
          </a:p>
          <a:p/>
          <a:p>
            <a:r>
              <a:t>TUJUAN: Menjalankan gate.</a:t>
            </a:r>
          </a:p>
          <a:p/>
          <a:p>
            <a:r>
              <a:t>ARAHAN TRAINER: Simpan output tanpa secret.</a:t>
            </a:r>
          </a:p>
          <a:p/>
          <a:p>
            <a:r>
              <a:t>PERTANYAAN DISKUSI: Apa yang tetap belum terbukti?</a:t>
            </a:r>
          </a:p>
          <a:p/>
          <a:p>
            <a:r>
              <a:t>RUJUKAN: Project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Demo. ALOKASI: 30 menit.</a:t>
            </a:r>
          </a:p>
          <a:p/>
          <a:p>
            <a:r>
              <a:t>TUJUAN: Menilai hasil Hari 3.</a:t>
            </a:r>
          </a:p>
          <a:p/>
          <a:p>
            <a:r>
              <a:t>ARAHAN TRAINER: Gunakan rubrik dan minta satu risiko yang belum selesai.</a:t>
            </a:r>
          </a:p>
          <a:p/>
          <a:p>
            <a:r>
              <a:t>PERTANYAAN DISKUSI: Apakah parity terbukti?</a:t>
            </a:r>
          </a:p>
          <a:p/>
          <a:p>
            <a:r>
              <a:t>RUJUKAN: Day3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SESI: Closing. ALOKASI: 5 menit.</a:t>
            </a:r>
          </a:p>
          <a:p/>
          <a:p>
            <a:r>
              <a:t>TUJUAN: Menutup program.</a:t>
            </a:r>
          </a:p>
          <a:p/>
          <a:p>
            <a:r>
              <a:t>ARAHAN TRAINER: Minta tiap tim menyebut next slice dan blocker.</a:t>
            </a:r>
          </a:p>
          <a:p/>
          <a:p>
            <a:r>
              <a:t>PERTANYAAN DISKUSI: Bukti apa yang paling mengubah keputusan?</a:t>
            </a:r>
          </a:p>
          <a:p/>
          <a:p>
            <a:r>
              <a:t>RUJUKAN: Day3 handover.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cover-16x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7132320" cy="6858000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94360" y="594360"/>
            <a:ext cx="5138928" cy="69494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722376"/>
            <a:ext cx="2084831" cy="734903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667512"/>
            <a:ext cx="371618" cy="5669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1618488"/>
            <a:ext cx="109728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BE7F6"/>
                </a:solidFill>
                <a:latin typeface="Aptos"/>
              </a:rPr>
              <a:t>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5623560" cy="1298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FFFFFF"/>
                </a:solidFill>
                <a:latin typeface="Aptos Display"/>
              </a:rPr>
              <a:t>Flutter WebView &amp;
Kotlin Migration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10128"/>
            <a:ext cx="5349240" cy="6400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BFD7E9"/>
                </a:solidFill>
                <a:latin typeface="Aptos"/>
              </a:rPr>
              <a:t>PRD vertical slice, Agent Skill, WebView boundary, dan evidence migrasi yang dapat direview.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4251960"/>
            <a:ext cx="105156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4315968"/>
            <a:ext cx="105156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37944" y="4251960"/>
            <a:ext cx="213969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37944" y="4315968"/>
            <a:ext cx="213969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KOTLIN → FLUTTER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05656" y="4251960"/>
            <a:ext cx="115214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05656" y="4315968"/>
            <a:ext cx="115214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WEBVIEW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85816" y="4251960"/>
            <a:ext cx="1591055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85816" y="4315968"/>
            <a:ext cx="1591055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AGENT SKILL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74920"/>
            <a:ext cx="5358384" cy="969264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6C6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5303520"/>
            <a:ext cx="1828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TRAINER &amp; PENULIS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" y="5577840"/>
            <a:ext cx="44805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99648" y="6345936"/>
            <a:ext cx="777240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FFFFFF"/>
                </a:solidFill>
                <a:latin typeface="Aptos"/>
              </a:rPr>
              <a:t>01 / 39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Outcome yang harus dapat dibuktikan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143000"/>
            <a:ext cx="73152" cy="2157984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58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1016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Behavior 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Legacy evidence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Unknown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43000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43000"/>
            <a:ext cx="73152" cy="2157984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4416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44168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PRD slice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856232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 + evidence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 of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749039"/>
            <a:ext cx="73152" cy="2157984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58952" y="3950207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8952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1016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Bounded WebView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2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Situs latihan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allowlist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36208" y="3749039"/>
            <a:ext cx="5440680" cy="21579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36208" y="3749039"/>
            <a:ext cx="73152" cy="2157984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92240" y="3950207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023359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04304" y="3950207"/>
            <a:ext cx="452628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Agent Skill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4462271"/>
            <a:ext cx="4965192" cy="12893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Repeatable flow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Human gate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Roadmap pembelajaran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987552"/>
            <a:ext cx="7315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5D6D82"/>
                </a:solidFill>
                <a:latin typeface="Aptos"/>
              </a:rPr>
              <a:t>Satu alur: contract → implementation →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1536192"/>
            <a:ext cx="1024128" cy="62179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1719072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08.30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47088" y="1536192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57400" y="1700784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Inventory legacy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33872" y="1536192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71616" y="1673352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Behavior, state, navigation, unknown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70432" y="2157984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58368" y="2414016"/>
            <a:ext cx="1024128" cy="62179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596896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09.15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47088" y="2414016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057400" y="2578608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PRD vertical slice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33872" y="2414016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71616" y="2551176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Acceptance → evidence matrix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70432" y="3035808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3291840"/>
            <a:ext cx="1024128" cy="62179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3474720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10.15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847088" y="3291840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57400" y="3456432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Kotlin → Flutter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33872" y="3291840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71616" y="3429000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UI, state, data, lifecycle mapping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170432" y="3913632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58368" y="4169664"/>
            <a:ext cx="1024128" cy="62179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352544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11.15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847088" y="4169664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57400" y="4334256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Agent Skill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833872" y="4169664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071616" y="4306824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Context, prompt, review gate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70432" y="4791456"/>
            <a:ext cx="0" cy="228600"/>
          </a:xfrm>
          <a:prstGeom prst="line">
            <a:avLst/>
          </a:prstGeom>
          <a:ln w="38100">
            <a:solidFill>
              <a:srgbClr val="D5E1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658368" y="5047488"/>
            <a:ext cx="1024128" cy="62179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" y="5230368"/>
            <a:ext cx="1024128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ptos"/>
              </a:rPr>
              <a:t>13.00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847088" y="5047488"/>
            <a:ext cx="3822191" cy="621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57400" y="5212080"/>
            <a:ext cx="3401568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0233E"/>
                </a:solidFill>
                <a:latin typeface="Aptos"/>
              </a:rPr>
              <a:t>WebView &amp; lab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33872" y="5047488"/>
            <a:ext cx="5468112" cy="621792"/>
          </a:xfrm>
          <a:prstGeom prst="roundRect">
            <a:avLst/>
          </a:prstGeom>
          <a:solidFill>
            <a:srgbClr val="F8FBFD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71616" y="5184648"/>
            <a:ext cx="4956048" cy="3291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D6D82"/>
                </a:solidFill>
                <a:latin typeface="Aptos"/>
              </a:rPr>
              <a:t>Bounded implementation, tests, build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ORIENTASI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Masalah migrasi bukan sekadar syntax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Behavior loss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Hidden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 behavior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Side effect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Contract drift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Endpoint berubah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DTO diasumsikan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Storage beda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Unknown disamarkan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False done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terlihat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parity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device test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gap register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Migrasi selesai ketika outcome terukur setara—bukan ketika screen baru tampak mirip.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Inventory legacy Kotlin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Baca seperlunya, catat perilaku teramati, dan pisahkan fakta dari unknown.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Pilih slice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Trace behavior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Buat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INVENTORY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File minimum untuk satu slice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Presentation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Activity/Fragment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XML/RecyclerView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Navigation graph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ViewModel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LiveData/Flow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Saved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Lifecycle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Data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Retrofit/DTO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Repository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Database/prefs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Ambil hanya file yang memengaruhi behavior slice; context berlebih menambah noise dan risiko.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Trace behavior dari trigger sampai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User 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tap/open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UI state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loading/error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ViewModel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intent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Repository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API/storage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Effect/result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navigation/data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Catat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Input/output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State transition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Back/restart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Jangan simpulkan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Nama class = contract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test = no behavior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sama = parity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Agent tahu domain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SOURCE OF TRUTH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Fakta, inference, dan unknown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Fakta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disetujui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hijau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Observed behavior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Product decision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Unknown / inference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Label asumsi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Cari evidence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Tanya owner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Block bila material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Unknown yang dicatat lebih aman daripada contract yang dikarang.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SLICE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Vertical slice menjaga migrasi tetap selesai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09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List trigger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GET contract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unchanged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List state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all states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Detail route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stable ID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Parity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AC + test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Masuk slice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One user outcome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+ state + data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Failure path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Reviewable diff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Di luar slice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All screens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Backend rewrite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New auth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Broad refactor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1 — legacy behavior 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daftar→detail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Temukan source Kotlin/XML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Trace state + data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Catat back/restart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Tandai F/I/U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unknown list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1-page map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Source references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invented behavior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Trace error/offline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Bandingkan dua implementation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PRD untuk migrasi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Ubah behavior menjadi acceptance yang dapat dinilai dan ditelusuri.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Define outcome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Write AC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Map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Anatomi PRD slice yang bisa dieksekusi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Problem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User outcome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Source of truth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Risk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What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 scope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 of scope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Dependencies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Constraints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Acceptance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Evidence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Next slice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PRD bukan dokumentasi setelah coding; PRD adalah batas keputusan sebelum patch.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Acceptance harus observable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Given/when/then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Status terlihat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ID/contract eksplisit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Pass/fail jelas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Lemah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UI modern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Mirip Kotlin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Lebih cepat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Berfungsi baik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Jika reviewer masih perlu menebak, acceptance belum cukup spesifik.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TRACEABILITY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Satu garis dari behavior sampai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75488" y="1261872"/>
          <a:ext cx="11228831" cy="4315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325880"/>
                <a:gridCol w="3337560"/>
                <a:gridCol w="3822191"/>
              </a:tblGrid>
              <a:tr h="863193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Legacy behavior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PRD AC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Flutter target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86319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Tap item ID 42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detail route 42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widget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6319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Load gagal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AC3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error + retry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fake repository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863193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Back preserves list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AC4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Navigator pop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smoke test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86319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External URL 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WV3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NavigationDelegate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device demo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870448"/>
            <a:ext cx="10515600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Traceability membuat review agent output dan parity lebih objektif.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Risiko dan keputusan sebelum coding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Parity ambiguity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growth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Owner absent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Rollout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Technical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Lifecycle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API drift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Back/session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Platform plugin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Security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WebView origin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 bridge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Secret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PII in prompt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Risiko material tanpa owner bukan detail implementasi—itu blocker keputusan.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Challenge 1 — tulis PRD slice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Tulis problem + outcome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Tetapkan source of truth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Batasi in/out scope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Tulis 5+ AC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AC ke evidence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Tambahkan risk/owner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Reviewer dapat pass/fail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vague AC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Unknown tetap terlihat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rollout/rollback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silang tim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Kotlin → Flutter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Petakan responsibility dan lifecycle; jangan menyalin class satu banding satu.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Map UI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Map state/data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Preserve behavior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UI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Activity / Fragment / XML → route dan widget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383280"/>
                <a:gridCol w="4736592"/>
              </a:tblGrid>
              <a:tr h="905256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Kotlin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Flutter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Yang diperiksa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Activity/Fragment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Screen + route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entry, back, lifecycle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XML layout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Widget tree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constraints, semantics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RecyclerView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ListView.builder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key, lazy build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90525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ViewBinding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typed widget refs/state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ownership/dispose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Targetnya behavior parity—bukan class parity.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STATE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ViewModel/LiveData → state owner yang eksplisit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19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Legacy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ViewModel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LiveData/Flow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SavedStateHandle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Coroutine scope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Flutter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Controller/state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Stream/Notifier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Route state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mounted/dispose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Pilih mekanisme sesuai kebutuhan; jangan menambah state library hanya agar mapping terlihat modern.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Retrofit → ApiClient tanpa contract drift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20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Retrofit annotation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observed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HTTP contract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source of truth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ApiClient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method/status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Repository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policy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Typed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strict mapping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=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Preserve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Path/method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Headers/auth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Payload/nullability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Error semantics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Escalate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Ambiguous field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Undocumented status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Legacy workaround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PII/logging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Navigation, storage, dan platform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Navigation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 result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Deep link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Stable ID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Duplicate route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Cache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Logout cleanup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Migration version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Platform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Permission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Plugin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Activity loss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Hal kecil pada lifecycle sering menjadi parity gap terbesar.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ANTI-PATTERN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Hindari dua ekstrem migrasi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Copy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Satu class = satu class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XML diterjemahkan literal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Legacy debt ikut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Flutter idiom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Rewrite tanpa 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berubah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Hidden behavior hilang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tak terkendali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parity proof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Responsibility dipetakan; struktur target dipilih secara sadar dan dibuktikan.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2 — architecture 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UI/navigation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state/lifecycle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Retrofit/repository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Map storage/session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Tandai parity risk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Pilih target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1 map per layer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Contract unchanged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Risiko punya owner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Buat sequence diagram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rollback plan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Agent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Kemas workflow migrasi sebagai instruksi reusable, bukan prompt sekali pakai.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Discover skill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Prepare context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Review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AGENT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Skill nyata di dalam repository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97280"/>
            <a:ext cx="5897880" cy="507492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43584"/>
            <a:ext cx="87782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07592"/>
            <a:ext cx="87782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SKILL.MD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19072"/>
            <a:ext cx="5495544" cy="432511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D9ECF5"/>
                </a:solidFill>
                <a:latin typeface="Cascadia Mono"/>
              </a:rPr>
              <a:t>.agents/skills/
  migrate-kotlin-slice/
    SKILL.md
---
name: migrate-kotlin-slice
description: Migrate one Kotlin slice
---
# Workflow
1. Read PRD + source
2. List facts + unknowns
3. Map AC → file/test
4. Patch one small slice
5. Verify and report gaps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1" y="125272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SLICE • HUMAN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48272" y="1097280"/>
            <a:ext cx="4873752" cy="2267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748272" y="1097280"/>
            <a:ext cx="73152" cy="2267712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04304" y="129844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04304" y="13716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16368" y="1298448"/>
            <a:ext cx="395935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Membakukan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810512"/>
            <a:ext cx="4398264" cy="1399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Input minimum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Urutan kerja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Guardrail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Output/evidence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48272" y="3611880"/>
            <a:ext cx="4873752" cy="2560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748272" y="3611880"/>
            <a:ext cx="73152" cy="256032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0430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0430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16368" y="3813048"/>
            <a:ext cx="395935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Tidak menggantikan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04304" y="4325112"/>
            <a:ext cx="4398264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PRD approval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Domain owner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Diff 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Device test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Context pack minimum dan aman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Include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PRD slice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Relevant Kotlin/XML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OpenAPI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Target +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Exclude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.env/key/token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Keystore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User dump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Unrelated repo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Annotate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Source of truth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Unknown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Constraints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Expected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Context hygiene meningkatkan akurasi sekaligus menurunkan security exposure.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PROMPT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Prompt mengikat agent ke PRD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5358384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444398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Berikan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4882896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Goal satu slice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Source of truth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Target files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Acceptance/evidence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Commands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6208" y="1188720"/>
            <a:ext cx="537667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6208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0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04304" y="1389888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Larangan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1901952"/>
            <a:ext cx="490118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invented contract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broad rewrite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host/bridge expansion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fake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Minta plan dan unknown sebelum mengizinkan patch.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HUMAN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Agent output harus melewati review manusia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25880"/>
            <a:ext cx="2077516" cy="713232"/>
          </a:xfrm>
          <a:prstGeom prst="roundRect">
            <a:avLst/>
          </a:prstGeom>
          <a:solidFill>
            <a:srgbClr val="0E5A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Read-only summary</a:t>
            </a:r>
          </a:p>
        </p:txBody>
      </p:sp>
      <p:sp>
        <p:nvSpPr>
          <p:cNvPr id="11" name="Chevron 10"/>
          <p:cNvSpPr/>
          <p:nvPr/>
        </p:nvSpPr>
        <p:spPr>
          <a:xfrm>
            <a:off x="2671876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facts/unknown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09036" y="1325880"/>
            <a:ext cx="2077516" cy="713232"/>
          </a:xfrm>
          <a:prstGeom prst="round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2188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Plan</a:t>
            </a:r>
          </a:p>
        </p:txBody>
      </p:sp>
      <p:sp>
        <p:nvSpPr>
          <p:cNvPr id="15" name="Chevron 14"/>
          <p:cNvSpPr/>
          <p:nvPr/>
        </p:nvSpPr>
        <p:spPr>
          <a:xfrm>
            <a:off x="4913985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9036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AC mapping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51145" y="1325880"/>
            <a:ext cx="2077516" cy="713232"/>
          </a:xfrm>
          <a:prstGeom prst="round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4297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071D3B"/>
                </a:solidFill>
                <a:latin typeface="Aptos"/>
              </a:rPr>
              <a:t>Patch</a:t>
            </a:r>
          </a:p>
        </p:txBody>
      </p:sp>
      <p:sp>
        <p:nvSpPr>
          <p:cNvPr id="19" name="Chevron 18"/>
          <p:cNvSpPr/>
          <p:nvPr/>
        </p:nvSpPr>
        <p:spPr>
          <a:xfrm>
            <a:off x="7156094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51145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small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93254" y="1325880"/>
            <a:ext cx="2077516" cy="713232"/>
          </a:xfrm>
          <a:prstGeom prst="round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66406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Diff review</a:t>
            </a:r>
          </a:p>
        </p:txBody>
      </p:sp>
      <p:sp>
        <p:nvSpPr>
          <p:cNvPr id="23" name="Chevron 22"/>
          <p:cNvSpPr/>
          <p:nvPr/>
        </p:nvSpPr>
        <p:spPr>
          <a:xfrm>
            <a:off x="9398203" y="1554480"/>
            <a:ext cx="109728" cy="256032"/>
          </a:xfrm>
          <a:prstGeom prst="chevron">
            <a:avLst/>
          </a:prstGeom>
          <a:solidFill>
            <a:srgbClr val="5D6D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293254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contract/security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5363" y="1325880"/>
            <a:ext cx="2077516" cy="713232"/>
          </a:xfrm>
          <a:prstGeom prst="roundRect">
            <a:avLst/>
          </a:prstGeom>
          <a:solidFill>
            <a:srgbClr val="F59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8515" y="1527048"/>
            <a:ext cx="1931212" cy="274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35363" y="2167128"/>
            <a:ext cx="2077516" cy="6583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D6D82"/>
                </a:solidFill>
                <a:latin typeface="Aptos"/>
              </a:rPr>
              <a:t>commands + gaps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3310128"/>
            <a:ext cx="5349240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66928" y="3310128"/>
            <a:ext cx="73152" cy="2304288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822960" y="3511296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024" y="3511296"/>
            <a:ext cx="44348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Reject jika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4023360"/>
            <a:ext cx="4873752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Endpoint dikarang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Scope melebar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Secret tampil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Tests tidak dijalankan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36208" y="3310128"/>
            <a:ext cx="5376672" cy="2304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36208" y="3310128"/>
            <a:ext cx="73152" cy="230428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6492240" y="3511296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584448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04304" y="3511296"/>
            <a:ext cx="44622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Accept jika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40" y="4023360"/>
            <a:ext cx="4901184" cy="1435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 trace jelas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Patch reviewable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Gate hijau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Gap jujur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3 — jalankan Agent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29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Pastikan skill terdeteksi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Berikan context minimum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Minta facts/unknown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plan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Izinkan patch kecil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Review diff + tests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Skill path nyata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secret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AC/evidence report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Tambah test failure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Peer-review agent output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45 MENIT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841248"/>
            <a:ext cx="1463040" cy="731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16C6E7"/>
                </a:solidFill>
                <a:latin typeface="Aptos Display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874519"/>
            <a:ext cx="6675120" cy="78638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Aptos Display"/>
              </a:rPr>
              <a:t>Bounded WebView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6656" y="2779776"/>
            <a:ext cx="6126480" cy="6858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BCD4E6"/>
                </a:solidFill>
                <a:latin typeface="Aptos"/>
              </a:rPr>
              <a:t>Gunakan WebView sebagai surface terdefinisi dengan origin, navigation, session, dan security policy.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960120"/>
            <a:ext cx="3931920" cy="4800600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174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389888"/>
            <a:ext cx="3154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SETELAH BAGIAN INI</a:t>
            </a:r>
          </a:p>
        </p:txBody>
      </p:sp>
      <p:sp>
        <p:nvSpPr>
          <p:cNvPr id="8" name="Oval 7"/>
          <p:cNvSpPr/>
          <p:nvPr/>
        </p:nvSpPr>
        <p:spPr>
          <a:xfrm>
            <a:off x="7818120" y="1856231"/>
            <a:ext cx="420624" cy="420624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18120" y="1956815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071D3B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30768" y="1874519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Create controller</a:t>
            </a:r>
          </a:p>
        </p:txBody>
      </p:sp>
      <p:sp>
        <p:nvSpPr>
          <p:cNvPr id="11" name="Oval 10"/>
          <p:cNvSpPr/>
          <p:nvPr/>
        </p:nvSpPr>
        <p:spPr>
          <a:xfrm>
            <a:off x="7818120" y="2880360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18120" y="2980944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0768" y="2898648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Load training site</a:t>
            </a:r>
          </a:p>
        </p:txBody>
      </p:sp>
      <p:sp>
        <p:nvSpPr>
          <p:cNvPr id="14" name="Oval 13"/>
          <p:cNvSpPr/>
          <p:nvPr/>
        </p:nvSpPr>
        <p:spPr>
          <a:xfrm>
            <a:off x="7818120" y="3904487"/>
            <a:ext cx="420624" cy="420624"/>
          </a:xfrm>
          <a:prstGeom prst="ellipse">
            <a:avLst/>
          </a:prstGeom>
          <a:solidFill>
            <a:srgbClr val="174F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4005071"/>
            <a:ext cx="420624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30768" y="3922775"/>
            <a:ext cx="2487168" cy="5303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Block external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19488" y="6355080"/>
            <a:ext cx="16002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HARI 3  •  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WEBVIEW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Pisahkan policy, controller, dan screen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31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571500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06984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06984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SOURCE TREE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531266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20" b="0">
                <a:solidFill>
                  <a:srgbClr val="D9ECF5"/>
                </a:solidFill>
                <a:latin typeface="Cascadia Mono"/>
              </a:rPr>
              <a:t>lib/src/
├── webview/
│   ├── navigation_policy.dart
│   └── migration_webview_controller.dart
└── screens/
    └── training_webview_screen.dart
URL:
https://www.presisirencar.com/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POLICY • BEHAVIOR •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65392" y="1143000"/>
            <a:ext cx="5056632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65392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21424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21424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33488" y="134416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Bisa diuji cepat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21424" y="1856232"/>
            <a:ext cx="4581144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Policy: unit test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Screen: widget state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Controller: device smoke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65392" y="3611880"/>
            <a:ext cx="5056632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65392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21424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21424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33488" y="3813048"/>
            <a:ext cx="41422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Ownership jelas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1424" y="4325112"/>
            <a:ext cx="4581144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Policy memilih URL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Controller mengatur WebView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Screen render progress/error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Controller: satu URL, state jelas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32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078992"/>
            <a:ext cx="6537960" cy="5120640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25296"/>
            <a:ext cx="2468880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289304"/>
            <a:ext cx="2468880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MIGRATION_WEBVIEW_CONTROLLER.DART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00784"/>
            <a:ext cx="6135624" cy="43708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30" b="0">
                <a:solidFill>
                  <a:srgbClr val="D9ECF5"/>
                </a:solidFill>
                <a:latin typeface="Cascadia Mono"/>
              </a:rPr>
              <a:t>const trainingWebsiteUrl =
  'https://www.presisirencar.com/';
return WebViewController()
  ..setJavaScriptMode(
    JavaScriptMode.unrestricted,
  )
  ..setNavigationDelegate(
    NavigationDelegate(
      onProgress: onProgress,
      onNavigationRequest: decide,
      onWebResourceError: handleError,
    ),
  )
  ..loadRequest(
    Uri.parse(trainingWebsiteUrl),
  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34440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ONE URL • NO JS BRIDGE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Keputusan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HTTPS only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JS untuk Next.js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JS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Progress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Main-frame error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Reload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Blocked URL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POLICY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Default deny: HTTPS + exact host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33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53796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1773936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1773936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NAVIGATION_POLICY.DART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13562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0">
                <a:solidFill>
                  <a:srgbClr val="D9ECF5"/>
                </a:solidFill>
                <a:latin typeface="Cascadia Mono"/>
              </a:rPr>
              <a:t>static const allowedHosts = {
  'presisirencar.com',
  'www.presisirencar.com',
};
static bool allows(String rawUrl) {
  if (rawUrl == 'about:blank') return true;
  final uri = Uri.tryParse(rawUrl);
  return uri != null &amp;&amp;
      uri.scheme == 'https' &amp;&amp;
      allowedHosts.contains(
        uri.host.toLowerCase(),
      );
}
// http, file, javascript, external → false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1208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PURE FUNCTION • UNIT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1143000"/>
            <a:ext cx="426110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6092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61695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1695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29016" y="134416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Baseline lab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1856232"/>
            <a:ext cx="378561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2 exact hosts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External prevent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JavaScript bridge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3611880"/>
            <a:ext cx="426110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3611880"/>
            <a:ext cx="73152" cy="2542032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616952" y="381304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1695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!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9016" y="3813048"/>
            <a:ext cx="334670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Test negatif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4325112"/>
            <a:ext cx="378561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HTTP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Fake subdomain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file/javascript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Back, session, dan failure harus eksplisit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34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188720"/>
            <a:ext cx="73152" cy="45262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" y="138988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35024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canGoBack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Navigator pop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trap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Deep link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188720"/>
            <a:ext cx="73152" cy="45262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626864" y="138988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26864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38928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Session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26864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Cookie owner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Logout cleanup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Expiry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SSO policy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74736" y="1188720"/>
            <a:ext cx="3456432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74736" y="1188720"/>
            <a:ext cx="73152" cy="4526280"/>
          </a:xfrm>
          <a:prstGeom prst="rect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430768" y="1389888"/>
            <a:ext cx="384048" cy="384048"/>
          </a:xfrm>
          <a:prstGeom prst="ellipse">
            <a:avLst/>
          </a:prstGeom>
          <a:solidFill>
            <a:srgbClr val="D84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146304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42832" y="1389888"/>
            <a:ext cx="254203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Failure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30768" y="1901952"/>
            <a:ext cx="2980944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TLS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Offline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Render crash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Retry/report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961888"/>
            <a:ext cx="1065276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WebView yang memuat halaman belum berarti journey pengguna selesai.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PRAKTIK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Lab 4 — WebView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35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720840" cy="4983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143000"/>
            <a:ext cx="73152" cy="4983480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04672" y="134416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LAB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1344168"/>
            <a:ext cx="580644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Tugas inti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" y="1856232"/>
            <a:ext cx="6245352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Load presisirencar.com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Show progress/error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Apply HTTPS allowlist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Block external URL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Add reload</a:t>
            </a:r>
          </a:p>
          <a:p>
            <a:pPr>
              <a:spcAft>
                <a:spcPts val="500"/>
              </a:spcAft>
              <a:defRPr sz="14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Define back behavior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143000"/>
            <a:ext cx="4050791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71231" y="1143000"/>
            <a:ext cx="73152" cy="2240280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827263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27263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7" y="13441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Evidence / DoD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27263" y="1856232"/>
            <a:ext cx="357530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Site tampil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External denied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No key/bridge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71231" y="3657600"/>
            <a:ext cx="4050791" cy="2468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71231" y="3657600"/>
            <a:ext cx="73152" cy="2468880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827263" y="385876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27263" y="39319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3858768"/>
            <a:ext cx="3136391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Stretch challenge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27263" y="4370832"/>
            <a:ext cx="3575303" cy="1600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Test fake subdomain</a:t>
            </a:r>
          </a:p>
          <a:p>
            <a:pPr>
              <a:spcAft>
                <a:spcPts val="500"/>
              </a:spcAft>
              <a:defRPr sz="12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Document session policy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46920" y="896112"/>
            <a:ext cx="166420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960120"/>
            <a:ext cx="166420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60 MENIT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Portfolio test mengikuti risiko migrasi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36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931920"/>
                <a:gridCol w="4919472"/>
              </a:tblGrid>
              <a:tr h="7543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Level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Membuktikan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Contoh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Unit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mapping/validator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DTO, rule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Widget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screen state/navigation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PRD/skill UI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Contract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HTTP parity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OpenAPI fixtures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Device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WebView/plugin/back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external denied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Build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toolchain integration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APK debug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Satu jenis test tidak membuktikan seluruh vertical slice.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QUALITY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Format, analyze, test, build, review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37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43000"/>
            <a:ext cx="6446520" cy="5010912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13232" y="1289304"/>
            <a:ext cx="786384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353312"/>
            <a:ext cx="786384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GATE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764792"/>
            <a:ext cx="6044184" cy="426110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D9ECF5"/>
                </a:solidFill>
                <a:latin typeface="Cascadia Mono"/>
              </a:rPr>
              <a:t>cd flutter_projects/
  hari_3_dpl_inspection_release
fvm dart format --output=none \
  --set-exit-if-changed lib test
fvm flutter analyze
fvm flutter test
fvm flutter build apk --debug
# then: device smoke + git diff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1" y="1298448"/>
            <a:ext cx="1627632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1">
                <a:solidFill>
                  <a:srgbClr val="D1A33C"/>
                </a:solidFill>
                <a:latin typeface="Aptos"/>
              </a:rPr>
              <a:t>EVIDENCE, NOT CLAIM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69480" y="1143000"/>
            <a:ext cx="4352544" cy="22128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69480" y="1143000"/>
            <a:ext cx="73152" cy="2212848"/>
          </a:xfrm>
          <a:prstGeom prst="rect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525512" y="1344168"/>
            <a:ext cx="384048" cy="384048"/>
          </a:xfrm>
          <a:prstGeom prst="ellipse">
            <a:avLst/>
          </a:prstGeom>
          <a:solidFill>
            <a:srgbClr val="19A9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25512" y="141732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7576" y="134416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Automated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1856232"/>
            <a:ext cx="3877056" cy="1344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Format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Analyze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3+ tests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APK build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69480" y="3611880"/>
            <a:ext cx="4352544" cy="2542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269480" y="3611880"/>
            <a:ext cx="73152" cy="2542032"/>
          </a:xfrm>
          <a:prstGeom prst="rect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525512" y="3813048"/>
            <a:ext cx="384048" cy="384048"/>
          </a:xfrm>
          <a:prstGeom prst="ellipse">
            <a:avLst/>
          </a:prstGeom>
          <a:solidFill>
            <a:srgbClr val="D1A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25512" y="388620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7576" y="3813048"/>
            <a:ext cx="3438144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0233E"/>
                </a:solidFill>
                <a:latin typeface="Aptos"/>
              </a:rPr>
              <a:t>Human/device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25512" y="4325112"/>
            <a:ext cx="3877056" cy="1673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Parity review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WebView block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Back/plugin</a:t>
            </a:r>
          </a:p>
          <a:p>
            <a:pPr>
              <a:spcAft>
                <a:spcPts val="500"/>
              </a:spcAft>
              <a:defRPr sz="1300">
                <a:solidFill>
                  <a:srgbClr val="5D6D82"/>
                </a:solidFill>
                <a:latin typeface="Aptos"/>
              </a:defRPr>
            </a:pPr>
            <a:r>
              <a:rPr>
                <a:latin typeface="Aptos"/>
              </a:rPr>
              <a:t>•  Gap register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Rubrik demo migrasi 8 menit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38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234440"/>
          <a:ext cx="11045952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931920"/>
                <a:gridCol w="5833872"/>
              </a:tblGrid>
              <a:tr h="646611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Menit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Demo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Evidence</a:t>
                      </a:r>
                    </a:p>
                  </a:txBody>
                  <a:tcPr marL="91440" marR="91440">
                    <a:solidFill>
                      <a:srgbClr val="0B2A55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Behavior map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facts + unknown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PRD traceability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AC → file/test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WebView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site + external denied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Agent Skill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path + guardrail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Target slice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list/detail parity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1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Gate + gap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233E"/>
                          </a:solidFill>
                          <a:latin typeface="Aptos"/>
                        </a:defRPr>
                      </a:pPr>
                      <a:r>
                        <a:t>tests/build/next</a:t>
                      </a:r>
                    </a:p>
                  </a:txBody>
                  <a:tcPr marL="91440" marR="91440" marT="54864" marB="54864">
                    <a:solidFill>
                      <a:srgbClr val="F5F8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22960" y="5961888"/>
            <a:ext cx="1051560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E5AA7"/>
                </a:solidFill>
                <a:latin typeface="Aptos"/>
              </a:rPr>
              <a:t>Core harus lulus sebelum stretch: session/login, bridge, atau slice kedua.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D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71D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749808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173736"/>
            <a:ext cx="1874519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BE7F6"/>
                </a:solidFill>
                <a:latin typeface="Aptos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347472"/>
            <a:ext cx="9601200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Aptos Display"/>
              </a:rPr>
              <a:t>Trace behavior. Bound the surface. Prove the migration.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44200" y="265176"/>
            <a:ext cx="960120" cy="21945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" y="6510528"/>
            <a:ext cx="640080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PT. Dok Pantai Lamongan  •  Flutter Professional  •  Hari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3931920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>
                <a:solidFill>
                  <a:srgbClr val="5D6D82"/>
                </a:solidFill>
                <a:latin typeface="Aptos"/>
              </a:rPr>
              <a:t>Damar Galih Aji Pradana, S.Tr.Kom.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051560"/>
            <a:ext cx="3840480" cy="7772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16C6E7"/>
                </a:solidFill>
                <a:latin typeface="Aptos Display"/>
              </a:rPr>
              <a:t>day-3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01952"/>
            <a:ext cx="6400800" cy="42062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FFFFFF"/>
                </a:solidFill>
                <a:latin typeface="Aptos"/>
              </a:rPr>
              <a:t>PRD → Agent Skill → WebView → Evidence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578608"/>
            <a:ext cx="5623560" cy="2852928"/>
          </a:xfrm>
          <a:prstGeom prst="roundRect">
            <a:avLst/>
          </a:prstGeom>
          <a:solidFill>
            <a:srgbClr val="091827"/>
          </a:solidFill>
          <a:ln w="12700">
            <a:solidFill>
              <a:srgbClr val="0B2A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50392" y="2724912"/>
            <a:ext cx="1389888" cy="301752"/>
          </a:xfrm>
          <a:prstGeom prst="roundRect">
            <a:avLst/>
          </a:prstGeom>
          <a:solidFill>
            <a:srgbClr val="0B2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788920"/>
            <a:ext cx="1389888" cy="15544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BE7F6"/>
                </a:solidFill>
                <a:latin typeface="Aptos"/>
              </a:rPr>
              <a:t>FINAL CHECKPOINT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200400"/>
            <a:ext cx="5221224" cy="21031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20" b="0">
                <a:solidFill>
                  <a:srgbClr val="D9ECF5"/>
                </a:solidFill>
                <a:latin typeface="Cascadia Mono"/>
              </a:rPr>
              <a:t>fvm flutter analyze
fvm flutter test
fvm flutter build apk --debug
git diff --check
# attach PRD, evidence, gap register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1051560"/>
            <a:ext cx="4919472" cy="4379976"/>
          </a:xfrm>
          <a:prstGeom prst="roundRect">
            <a:avLst/>
          </a:prstGeom>
          <a:solidFill>
            <a:srgbClr val="0B2A55"/>
          </a:solidFill>
          <a:ln w="12700">
            <a:solidFill>
              <a:srgbClr val="D5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629400" y="1051560"/>
            <a:ext cx="73152" cy="4379976"/>
          </a:xfrm>
          <a:prstGeom prst="rect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85432" y="1252728"/>
            <a:ext cx="384048" cy="384048"/>
          </a:xfrm>
          <a:prstGeom prst="ellipse">
            <a:avLst/>
          </a:prstGeom>
          <a:solidFill>
            <a:srgbClr val="16C6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5432" y="1325880"/>
            <a:ext cx="384048" cy="16459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71D3B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97496" y="1252728"/>
            <a:ext cx="4005072" cy="3200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Aptos"/>
              </a:rPr>
              <a:t>Handover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5432" y="1764792"/>
            <a:ext cx="4443984" cy="35112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Behavior map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PRD + traceability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Agent Skill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WebView policy</a:t>
            </a:r>
          </a:p>
          <a:p>
            <a:pPr>
              <a:spcAft>
                <a:spcPts val="500"/>
              </a:spcAft>
              <a:defRPr sz="1400">
                <a:solidFill>
                  <a:srgbClr val="D5E7F2"/>
                </a:solidFill>
                <a:latin typeface="Aptos"/>
              </a:defRPr>
            </a:pPr>
            <a:r>
              <a:rPr>
                <a:latin typeface="Aptos"/>
              </a:rPr>
              <a:t>•  Tests/build + gaps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961888"/>
            <a:ext cx="10835640" cy="25603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7BE7F6"/>
                </a:solidFill>
                <a:latin typeface="Aptos"/>
              </a:rPr>
              <a:t>Rujukan: docs.flutter.dev • pub.dev/webview_flutter • opencode.ai/docs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25328" y="6309360"/>
            <a:ext cx="868680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7BE7F6"/>
                </a:solidFill>
                <a:latin typeface="Aptos"/>
              </a:rPr>
              <a:t>39 / 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