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08.30–08.35. ALOKASI: 5 menit.</a:t>
            </a:r>
          </a:p>
          <a:p/>
          <a:p>
            <a:r>
              <a:t>TUJUAN: Menyepakati target Hari 2.</a:t>
            </a:r>
          </a:p>
          <a:p/>
          <a:p>
            <a:r>
              <a:t>ARAHAN TRAINER: Tunjukkan tiga tab dan banner simulasi JSONPlaceholder.</a:t>
            </a:r>
          </a:p>
          <a:p/>
          <a:p>
            <a:r>
              <a:t>PERTANYAAN DISKUSI: Apa beda response sukses dan persistence?</a:t>
            </a:r>
          </a:p>
          <a:p/>
          <a:p>
            <a:r>
              <a:t>RUJUKAN: Project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08.35–08.45. ALOKASI: 10 menit.</a:t>
            </a:r>
          </a:p>
          <a:p/>
          <a:p>
            <a:r>
              <a:t>TUJUAN: Menentukan evidence.</a:t>
            </a:r>
          </a:p>
          <a:p/>
          <a:p>
            <a:r>
              <a:t>ARAHAN TRAINER: Minta peserta membedakan UI demo, network evidence, dan secret hygiene.</a:t>
            </a:r>
          </a:p>
          <a:p/>
          <a:p>
            <a:r>
              <a:t>PERTANYAAN DISKUSI: Mana yang perlu device test?</a:t>
            </a:r>
          </a:p>
          <a:p/>
          <a:p>
            <a:r>
              <a:t>RUJUKAN: PRD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08.45–08.50. ALOKASI: 5 menit.</a:t>
            </a:r>
          </a:p>
          <a:p/>
          <a:p>
            <a:r>
              <a:t>TUJUAN: Menjelaskan alokasi 6,5 jam.</a:t>
            </a:r>
          </a:p>
          <a:p/>
          <a:p>
            <a:r>
              <a:t>ARAHAN TRAINER: Tandai empat lab dan waktu challenge.</a:t>
            </a:r>
          </a:p>
          <a:p/>
          <a:p>
            <a:r>
              <a:t>PERTANYAAN DISKUSI: Checkpoint mana tidak boleh dilewati?</a:t>
            </a:r>
          </a:p>
          <a:p/>
          <a:p>
            <a:r>
              <a:t>RUJUKAN: Rundown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08.50–09.00. ALOKASI: 10 menit.</a:t>
            </a:r>
          </a:p>
          <a:p/>
          <a:p>
            <a:r>
              <a:t>TUJUAN: Memastikan baseline Hari 1.</a:t>
            </a:r>
          </a:p>
          <a:p/>
          <a:p>
            <a:r>
              <a:t>ARAHAN TRAINER: Jalankan smoke list/detail/form lokal sebelum refactor.</a:t>
            </a:r>
          </a:p>
          <a:p/>
          <a:p>
            <a:r>
              <a:t>PERTANYAAN DISKUSI: Bagian mana harus tetap bekerja?</a:t>
            </a:r>
          </a:p>
          <a:p/>
          <a:p>
            <a:r>
              <a:t>RUJUKAN: Checkpoint day-1.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09.00–09.02. ALOKASI: 2 menit.</a:t>
            </a:r>
          </a:p>
          <a:p/>
          <a:p>
            <a:r>
              <a:t>TUJUAN: Membuka UI foundations.</a:t>
            </a:r>
          </a:p>
          <a:p/>
          <a:p>
            <a:r>
              <a:t>ARAHAN TRAINER: Gunakan source aktif, bukan widget terpisah yang tidak dipakai.</a:t>
            </a:r>
          </a:p>
          <a:p/>
          <a:p>
            <a:r>
              <a:t>PERTANYAAN DISKUSI: Siapa pemilik state form?</a:t>
            </a:r>
          </a:p>
          <a:p/>
          <a:p>
            <a:r>
              <a:t>RUJUKAN: Flutter widget fundamentals.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09.02–09.15. ALOKASI: 13 menit.</a:t>
            </a:r>
          </a:p>
          <a:p/>
          <a:p>
            <a:r>
              <a:t>TUJUAN: Memahami struktur halaman.</a:t>
            </a:r>
          </a:p>
          <a:p/>
          <a:p>
            <a:r>
              <a:t>ARAHAN TRAINER: Trace HomeScreen dari MaterialApp hingga FAB.</a:t>
            </a:r>
          </a:p>
          <a:p/>
          <a:p>
            <a:r>
              <a:t>PERTANYAAN DISKUSI: Kapan nested Scaffold masuk akal?</a:t>
            </a:r>
          </a:p>
          <a:p/>
          <a:p>
            <a:r>
              <a:t>RUJUKAN: HomeScreen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09.15–09.28. ALOKASI: 13 menit.</a:t>
            </a:r>
          </a:p>
          <a:p/>
          <a:p>
            <a:r>
              <a:t>TUJUAN: Mendesain AppBar yang jelas.</a:t>
            </a:r>
          </a:p>
          <a:p/>
          <a:p>
            <a:r>
              <a:t>ARAHAN TRAINER: Bandingkan action yang berubah sesuai tab aktif.</a:t>
            </a:r>
          </a:p>
          <a:p/>
          <a:p>
            <a:r>
              <a:t>PERTANYAAN DISKUSI: Mengapa refresh tidak muncul di AI Setup?</a:t>
            </a:r>
          </a:p>
          <a:p/>
          <a:p>
            <a:r>
              <a:t>RUJUKAN: Material AppBar.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09.28–09.43. ALOKASI: 15 menit.</a:t>
            </a:r>
          </a:p>
          <a:p/>
          <a:p>
            <a:r>
              <a:t>TUJUAN: Mencegah overflow.</a:t>
            </a:r>
          </a:p>
          <a:p/>
          <a:p>
            <a:r>
              <a:t>ARAHAN TRAINER: Gunakan tiga concept card dan kecilkan viewport.</a:t>
            </a:r>
          </a:p>
          <a:p/>
          <a:p>
            <a:r>
              <a:t>PERTANYAAN DISKUSI: Mengapa Row di dalam ListView masih bisa overflow?</a:t>
            </a:r>
          </a:p>
          <a:p/>
          <a:p>
            <a:r>
              <a:t>RUJUKAN: Flutter layout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09.43–10.00. ALOKASI: 17 menit.</a:t>
            </a:r>
          </a:p>
          <a:p/>
          <a:p>
            <a:r>
              <a:t>TUJUAN: Membuat form deterministik.</a:t>
            </a:r>
          </a:p>
          <a:p/>
          <a:p>
            <a:r>
              <a:t>ARAHAN TRAINER: Demo submit kosong, valid, dan double tap.</a:t>
            </a:r>
          </a:p>
          <a:p/>
          <a:p>
            <a:r>
              <a:t>PERTANYAAN DISKUSI: Mengapa client validation tidak menggantikan server?</a:t>
            </a:r>
          </a:p>
          <a:p/>
          <a:p>
            <a:r>
              <a:t>RUJUKAN: InspectionFormScreen.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10.15–11.15. ALOKASI: 60 menit.</a:t>
            </a:r>
          </a:p>
          <a:p/>
          <a:p>
            <a:r>
              <a:t>TUJUAN: Menyusun UI foundation.</a:t>
            </a:r>
          </a:p>
          <a:p/>
          <a:p>
            <a:r>
              <a:t>ARAHAN TRAINER: Pair work dengan review constraints pada menit 30.</a:t>
            </a:r>
          </a:p>
          <a:p/>
          <a:p>
            <a:r>
              <a:t>PERTANYAAN DISKUSI: Widget mana memiliki scroll?</a:t>
            </a:r>
          </a:p>
          <a:p/>
          <a:p>
            <a:r>
              <a:t>RUJUKAN: UiFoundationScreen.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11.15–11.17. ALOKASI: 2 menit.</a:t>
            </a:r>
          </a:p>
          <a:p/>
          <a:p>
            <a:r>
              <a:t>TUJUAN: Membuka sesi API.</a:t>
            </a:r>
          </a:p>
          <a:p/>
          <a:p>
            <a:r>
              <a:t>ARAHAN TRAINER: Buka endpoint /posts dan source JSONPlaceholder.</a:t>
            </a:r>
          </a:p>
          <a:p/>
          <a:p>
            <a:r>
              <a:t>PERTANYAAN DISKUSI: Apa beda simulated write dan persistence?</a:t>
            </a:r>
          </a:p>
          <a:p/>
          <a:p>
            <a:r>
              <a:t>RUJUKAN: jsonplaceholder.typicode.com.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11.17–11.30. ALOKASI: 13 menit.</a:t>
            </a:r>
          </a:p>
          <a:p/>
          <a:p>
            <a:r>
              <a:t>TUJUAN: Mengenali public API.</a:t>
            </a:r>
          </a:p>
          <a:p/>
          <a:p>
            <a:r>
              <a:t>ARAHAN TRAINER: Baca guide dan source MIT JSONPlaceholder.</a:t>
            </a:r>
          </a:p>
          <a:p/>
          <a:p>
            <a:r>
              <a:t>PERTANYAAN DISKUSI: Mengapa banner simulasi wajib?</a:t>
            </a:r>
          </a:p>
          <a:p/>
          <a:p>
            <a:r>
              <a:t>RUJUKAN: JSONPlaceholder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11.30–11.43. ALOKASI: 13 menit.</a:t>
            </a:r>
          </a:p>
          <a:p/>
          <a:p>
            <a:r>
              <a:t>TUJUAN: Memverifikasi API publik.</a:t>
            </a:r>
          </a:p>
          <a:p/>
          <a:p>
            <a:r>
              <a:t>ARAHAN TRAINER: Jalankan curl dan simpan status, bukan credential.</a:t>
            </a:r>
          </a:p>
          <a:p/>
          <a:p>
            <a:r>
              <a:t>PERTANYAAN DISKUSI: Apa fallback automated test?</a:t>
            </a:r>
          </a:p>
          <a:p/>
          <a:p>
            <a:r>
              <a:t>RUJUKAN: Per-file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11.43–11.55. ALOKASI: 12 menit.</a:t>
            </a:r>
          </a:p>
          <a:p/>
          <a:p>
            <a:r>
              <a:t>TUJUAN: Mengenalkan struktur CRUD modular.</a:t>
            </a:r>
          </a:p>
          <a:p/>
          <a:p>
            <a:r>
              <a:t>ARAHAN TRAINER: Buka empat file secara berurutan; jangan tampilkan seluruh project sekaligus.</a:t>
            </a:r>
          </a:p>
          <a:p/>
          <a:p>
            <a:r>
              <a:t>PERTANYAAN DISKUSI: Apa yang layak menjadi helper bersama?</a:t>
            </a:r>
          </a:p>
          <a:p/>
          <a:p>
            <a:r>
              <a:t>RUJUKAN: data/crud + per-file tutorial.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11.55–12.08. ALOKASI: 13 menit.</a:t>
            </a:r>
          </a:p>
          <a:p/>
          <a:p>
            <a:r>
              <a:t>TUJUAN: Membedah operasi Read.</a:t>
            </a:r>
          </a:p>
          <a:p/>
          <a:p>
            <a:r>
              <a:t>ARAHAN TRAINER: Buka hanya read_inspections.dart, lalu jalankan test GET.</a:t>
            </a:r>
          </a:p>
          <a:p/>
          <a:p>
            <a:r>
              <a:t>PERTANYAAN DISKUSI: Failure mana boleh memakai cache?</a:t>
            </a:r>
          </a:p>
          <a:p/>
          <a:p>
            <a:r>
              <a:t>RUJUKAN: data/crud/read_inspections.dart.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13.00–13.13. ALOKASI: 13 menit.</a:t>
            </a:r>
          </a:p>
          <a:p/>
          <a:p>
            <a:r>
              <a:t>TUJUAN: Membedah operasi Create.</a:t>
            </a:r>
          </a:p>
          <a:p/>
          <a:p>
            <a:r>
              <a:t>ARAHAN TRAINER: Buka create_inspection.dart, inspect payload, lalu refresh untuk membuktikan simulasi.</a:t>
            </a:r>
          </a:p>
          <a:p/>
          <a:p>
            <a:r>
              <a:t>PERTANYAAN DISKUSI: Apa evidence persistence nyata?</a:t>
            </a:r>
          </a:p>
          <a:p/>
          <a:p>
            <a:r>
              <a:t>RUJUKAN: data/crud/create_inspection.dart.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13.13–13.26. ALOKASI: 13 menit.</a:t>
            </a:r>
          </a:p>
          <a:p/>
          <a:p>
            <a:r>
              <a:t>TUJUAN: Membedah operasi Update.</a:t>
            </a:r>
          </a:p>
          <a:p/>
          <a:p>
            <a:r>
              <a:t>ARAHAN TRAINER: Buka update_inspection.dart dan cocokkan ID path dengan payload.</a:t>
            </a:r>
          </a:p>
          <a:p/>
          <a:p>
            <a:r>
              <a:t>PERTANYAAN DISKUSI: Mengapa response server mengganti model lokal?</a:t>
            </a:r>
          </a:p>
          <a:p/>
          <a:p>
            <a:r>
              <a:t>RUJUKAN: data/crud/update_inspection.dart.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13.26–13.39. ALOKASI: 13 menit.</a:t>
            </a:r>
          </a:p>
          <a:p/>
          <a:p>
            <a:r>
              <a:t>TUJUAN: Membedah operasi Delete.</a:t>
            </a:r>
          </a:p>
          <a:p/>
          <a:p>
            <a:r>
              <a:t>ARAHAN TRAINER: Buka delete_inspection.dart; confirmation tetap concern UI.</a:t>
            </a:r>
          </a:p>
          <a:p/>
          <a:p>
            <a:r>
              <a:t>PERTANYAAN DISKUSI: Kapan optimistic delete layak?</a:t>
            </a:r>
          </a:p>
          <a:p/>
          <a:p>
            <a:r>
              <a:t>RUJUKAN: data/crud/delete_inspection.dart.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13.39–13.52. ALOKASI: 13 menit.</a:t>
            </a:r>
          </a:p>
          <a:p/>
          <a:p>
            <a:r>
              <a:t>TUJUAN: Menjelaskan facade.</a:t>
            </a:r>
          </a:p>
          <a:p/>
          <a:p>
            <a:r>
              <a:t>ARAHAN TRAINER: Bandingkan pemanggilan repository dengan isi empat operation file.</a:t>
            </a:r>
          </a:p>
          <a:p/>
          <a:p>
            <a:r>
              <a:t>PERTANYAAN DISKUSI: Mengapa facade tidak menjadi god object?</a:t>
            </a:r>
          </a:p>
          <a:p/>
          <a:p>
            <a:r>
              <a:t>RUJUKAN: api_client.dart + data/crud.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13.52–14.05. ALOKASI: 13 menit.</a:t>
            </a:r>
          </a:p>
          <a:p/>
          <a:p>
            <a:r>
              <a:t>TUJUAN: Membedakan public API dan secret.</a:t>
            </a:r>
          </a:p>
          <a:p/>
          <a:p>
            <a:r>
              <a:t>ARAHAN TRAINER: Pastikan tidak ada fake login atau key di app.</a:t>
            </a:r>
          </a:p>
          <a:p/>
          <a:p>
            <a:r>
              <a:t>PERTANYAAN DISKUSI: Mengapa APK tidak dapat menyimpan secret?</a:t>
            </a:r>
          </a:p>
          <a:p/>
          <a:p>
            <a:r>
              <a:t>RUJUKAN: Security baseline.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14.05–14.18. ALOKASI: 13 menit.</a:t>
            </a:r>
          </a:p>
          <a:p/>
          <a:p>
            <a:r>
              <a:t>TUJUAN: Memetakan UI state ke operasi.</a:t>
            </a:r>
          </a:p>
          <a:p/>
          <a:p>
            <a:r>
              <a:t>ARAHAN TRAINER: Fake 500, timeout, dan invalid JSON melalui MockClient.</a:t>
            </a:r>
          </a:p>
          <a:p/>
          <a:p>
            <a:r>
              <a:t>PERTANYAAN DISKUSI: Apa yang terjadi pada write setelah refresh?</a:t>
            </a:r>
          </a:p>
          <a:p/>
          <a:p>
            <a:r>
              <a:t>RUJUKAN: InspectionController.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14.18–15.48. ALOKASI: 90 menit.</a:t>
            </a:r>
          </a:p>
          <a:p/>
          <a:p>
            <a:r>
              <a:t>TUJUAN: Menyelesaikan CRUD simulasi.</a:t>
            </a:r>
          </a:p>
          <a:p/>
          <a:p>
            <a:r>
              <a:t>ARAHAN TRAINER: Checkpoint per file: mapper, client, repository, controller, UI.</a:t>
            </a:r>
          </a:p>
          <a:p/>
          <a:p>
            <a:r>
              <a:t>PERTANYAAN DISKUSI: Di mana persistence berhenti?</a:t>
            </a:r>
          </a:p>
          <a:p/>
          <a:p>
            <a:r>
              <a:t>RUJUKAN: JSONPLACEHOLDER_PER_FILE.md.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2 menit.</a:t>
            </a:r>
          </a:p>
          <a:p/>
          <a:p>
            <a:r>
              <a:t>TUJUAN: Membuka sesi picker.</a:t>
            </a:r>
          </a:p>
          <a:p/>
          <a:p>
            <a:r>
              <a:t>ARAHAN TRAINER: Bedakan gambar dan file generik serta batas upload.</a:t>
            </a:r>
          </a:p>
          <a:p/>
          <a:p>
            <a:r>
              <a:t>PERTANYAAN DISKUSI: Apa yang pengguna kira terjadi setelah memilih file?</a:t>
            </a:r>
          </a:p>
          <a:p/>
          <a:p>
            <a:r>
              <a:t>RUJUKAN: image_picker/file_picker.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12 menit.</a:t>
            </a:r>
          </a:p>
          <a:p/>
          <a:p>
            <a:r>
              <a:t>TUJUAN: Memilih picker sesuai kebutuhan.</a:t>
            </a:r>
          </a:p>
          <a:p/>
          <a:p>
            <a:r>
              <a:t>ARAHAN TRAINER: Minta peserta mengklasifikasikan foto inspeksi dan PDF sertifikat.</a:t>
            </a:r>
          </a:p>
          <a:p/>
          <a:p>
            <a:r>
              <a:t>PERTANYAAN DISKUSI: Kapan satu form memerlukan keduanya?</a:t>
            </a:r>
          </a:p>
          <a:p/>
          <a:p>
            <a:r>
              <a:t>RUJUKAN: pubspec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13 menit.</a:t>
            </a:r>
          </a:p>
          <a:p/>
          <a:p>
            <a:r>
              <a:t>TUJUAN: Menggunakan image_picker.</a:t>
            </a:r>
          </a:p>
          <a:p/>
          <a:p>
            <a:r>
              <a:t>ARAHAN TRAINER: Demo gallery, cancel, dan clear.</a:t>
            </a:r>
          </a:p>
          <a:p/>
          <a:p>
            <a:r>
              <a:t>PERTANYAAN DISKUSI: Mengapa cancel tidak perlu snackbar merah?</a:t>
            </a:r>
          </a:p>
          <a:p/>
          <a:p>
            <a:r>
              <a:t>RUJUKAN: InspectionFormScreen.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13 menit.</a:t>
            </a:r>
          </a:p>
          <a:p/>
          <a:p>
            <a:r>
              <a:t>TUJUAN: Menggunakan file_picker terbaru.</a:t>
            </a:r>
          </a:p>
          <a:p/>
          <a:p>
            <a:r>
              <a:t>ARAHAN TRAINER: Tekankan perubahan API menjadi static pickFile dan lengthSync nullable.</a:t>
            </a:r>
          </a:p>
          <a:p/>
          <a:p>
            <a:r>
              <a:t>PERTANYAAN DISKUSI: Mengapa path tidak selalu tersedia?</a:t>
            </a:r>
          </a:p>
          <a:p/>
          <a:p>
            <a:r>
              <a:t>RUJUKAN: file_picker installed source.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12 menit.</a:t>
            </a:r>
          </a:p>
          <a:p/>
          <a:p>
            <a:r>
              <a:t>TUJUAN: Menjaga ekspektasi data.</a:t>
            </a:r>
          </a:p>
          <a:p/>
          <a:p>
            <a:r>
              <a:t>ARAHAN TRAINER: Minta peserta menulis label status lampiran.</a:t>
            </a:r>
          </a:p>
          <a:p/>
          <a:p>
            <a:r>
              <a:t>PERTANYAAN DISKUSI: Bukti apa yang menunjukkan upload berhasil?</a:t>
            </a:r>
          </a:p>
          <a:p/>
          <a:p>
            <a:r>
              <a:t>RUJUKAN: Picker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12 menit.</a:t>
            </a:r>
          </a:p>
          <a:p/>
          <a:p>
            <a:r>
              <a:t>TUJUAN: Menangani risiko plugin.</a:t>
            </a:r>
          </a:p>
          <a:p/>
          <a:p>
            <a:r>
              <a:t>ARAHAN TRAINER: Uji cancel dan pilih file besar secara terkontrol.</a:t>
            </a:r>
          </a:p>
          <a:p/>
          <a:p>
            <a:r>
              <a:t>PERTANYAAN DISKUSI: Apa yang masih perlu physical device?</a:t>
            </a:r>
          </a:p>
          <a:p/>
          <a:p>
            <a:r>
              <a:t>RUJUKAN: Plugin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Picker. ALOKASI: 60 menit.</a:t>
            </a:r>
          </a:p>
          <a:p/>
          <a:p>
            <a:r>
              <a:t>TUJUAN: Mengintegrasikan picker.</a:t>
            </a:r>
          </a:p>
          <a:p/>
          <a:p>
            <a:r>
              <a:t>ARAHAN TRAINER: Gunakan form create/update yang sama.</a:t>
            </a:r>
          </a:p>
          <a:p/>
          <a:p>
            <a:r>
              <a:t>PERTANYAAN DISKUSI: State apa yang bertahan setelah kembali dari picker?</a:t>
            </a:r>
          </a:p>
          <a:p/>
          <a:p>
            <a:r>
              <a:t>RUJUKAN: Form Hari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2 menit.</a:t>
            </a:r>
          </a:p>
          <a:p/>
          <a:p>
            <a:r>
              <a:t>TUJUAN: Membuka sesi OpenCode.</a:t>
            </a:r>
          </a:p>
          <a:p/>
          <a:p>
            <a:r>
              <a:t>ARAHAN TRAINER: Tegaskan OpenCode adalah tool developer, bukan fitur Flutter.</a:t>
            </a:r>
          </a:p>
          <a:p/>
          <a:p>
            <a:r>
              <a:t>PERTANYAAN DISKUSI: Di mana API key seharusnya berada?</a:t>
            </a:r>
          </a:p>
          <a:p/>
          <a:p>
            <a:r>
              <a:t>RUJUKAN: OpenCode official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15 menit.</a:t>
            </a:r>
          </a:p>
          <a:p/>
          <a:p>
            <a:r>
              <a:t>TUJUAN: Memasang OpenCode reproducibly.</a:t>
            </a:r>
          </a:p>
          <a:p/>
          <a:p>
            <a:r>
              <a:t>ARAHAN TRAINER: Pilih satu installer yang disetujui organisasi.</a:t>
            </a:r>
          </a:p>
          <a:p/>
          <a:p>
            <a:r>
              <a:t>PERTANYAAN DISKUSI: Mengapa major version perlu dipin?</a:t>
            </a:r>
          </a:p>
          <a:p/>
          <a:p>
            <a:r>
              <a:t>RUJUKAN: opencode.ai/docs.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15 menit.</a:t>
            </a:r>
          </a:p>
          <a:p/>
          <a:p>
            <a:r>
              <a:t>TUJUAN: Menghubungkan provider.</a:t>
            </a:r>
          </a:p>
          <a:p/>
          <a:p>
            <a:r>
              <a:t>ARAHAN TRAINER: Peserta tidak menampilkan key pada projector.</a:t>
            </a:r>
          </a:p>
          <a:p/>
          <a:p>
            <a:r>
              <a:t>PERTANYAAN DISKUSI: Siapa owner key training?</a:t>
            </a:r>
          </a:p>
          <a:p/>
          <a:p>
            <a:r>
              <a:t>RUJUKAN: OpenCode providers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15 menit.</a:t>
            </a:r>
          </a:p>
          <a:p/>
          <a:p>
            <a:r>
              <a:t>TUJUAN: Menetapkan secret boundary.</a:t>
            </a:r>
          </a:p>
          <a:p/>
          <a:p>
            <a:r>
              <a:t>ARAHAN TRAINER: Minta peserta menemukan lokasi key yang salah dari contoh.</a:t>
            </a:r>
          </a:p>
          <a:p/>
          <a:p>
            <a:r>
              <a:t>PERTANYAAN DISKUSI: Apa yang dilakukan bila key ter-commit?</a:t>
            </a:r>
          </a:p>
          <a:p/>
          <a:p>
            <a:r>
              <a:t>RUJUKAN: AI setup doc.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15 menit.</a:t>
            </a:r>
          </a:p>
          <a:p/>
          <a:p>
            <a:r>
              <a:t>TUJUAN: Memakai agent secara bertahap.</a:t>
            </a:r>
          </a:p>
          <a:p/>
          <a:p>
            <a:r>
              <a:t>ARAHAN TRAINER: Mulai prompt read-only lalu lihat git diff.</a:t>
            </a:r>
          </a:p>
          <a:p/>
          <a:p>
            <a:r>
              <a:t>PERTANYAAN DISKUSI: Mengapa summary diperiksa sebelum patch?</a:t>
            </a:r>
          </a:p>
          <a:p/>
          <a:p>
            <a:r>
              <a:t>RUJUKAN: OpenCode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13 menit.</a:t>
            </a:r>
          </a:p>
          <a:p/>
          <a:p>
            <a:r>
              <a:t>TUJUAN: Menulis prompt berkualitas.</a:t>
            </a:r>
          </a:p>
          <a:p/>
          <a:p>
            <a:r>
              <a:t>ARAHAN TRAINER: Minta agent menambahkan test untuk satu CRUD failure.</a:t>
            </a:r>
          </a:p>
          <a:p/>
          <a:p>
            <a:r>
              <a:t>PERTANYAAN DISKUSI: Constraint mana mencegah scope creep?</a:t>
            </a:r>
          </a:p>
          <a:p/>
          <a:p>
            <a:r>
              <a:t>RUJUKAN: Prompt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AI. ALOKASI: 45 menit.</a:t>
            </a:r>
          </a:p>
          <a:p/>
          <a:p>
            <a:r>
              <a:t>TUJUAN: Mengaktifkan AI workflow aman.</a:t>
            </a:r>
          </a:p>
          <a:p/>
          <a:p>
            <a:r>
              <a:t>ARAHAN TRAINER: Trainer memeriksa AGENTS.md, secret hygiene, dan git diff.</a:t>
            </a:r>
          </a:p>
          <a:p/>
          <a:p>
            <a:r>
              <a:t>PERTANYAAN DISKUSI: Apakah agent mengarang endpoint?</a:t>
            </a:r>
          </a:p>
          <a:p/>
          <a:p>
            <a:r>
              <a:t>RUJUKAN: OPENCODE_AI_SETUP.md.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Gate. ALOKASI: 15 menit.</a:t>
            </a:r>
          </a:p>
          <a:p/>
          <a:p>
            <a:r>
              <a:t>TUJUAN: Menjalankan gate lintas layer.</a:t>
            </a:r>
          </a:p>
          <a:p/>
          <a:p>
            <a:r>
              <a:t>ARAHAN TRAINER: Bedakan automated dan manual evidence.</a:t>
            </a:r>
          </a:p>
          <a:p/>
          <a:p>
            <a:r>
              <a:t>PERTANYAAN DISKUSI: Apa yang belum dibuktikan test?</a:t>
            </a:r>
          </a:p>
          <a:p/>
          <a:p>
            <a:r>
              <a:t>RUJUKAN: Project READMEs.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Demo. ALOKASI: 30 menit.</a:t>
            </a:r>
          </a:p>
          <a:p/>
          <a:p>
            <a:r>
              <a:t>TUJUAN: Menilai hasil Hari 2.</a:t>
            </a:r>
          </a:p>
          <a:p/>
          <a:p>
            <a:r>
              <a:t>ARAHAN TRAINER: Naik challenge hanya setelah Core lulus.</a:t>
            </a:r>
          </a:p>
          <a:p/>
          <a:p>
            <a:r>
              <a:t>PERTANYAAN DISKUSI: Bagian mana belum punya evidence?</a:t>
            </a:r>
          </a:p>
          <a:p/>
          <a:p>
            <a:r>
              <a:t>RUJUKAN: Day2 rubric.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SESI: Closing. ALOKASI: 5 menit.</a:t>
            </a:r>
          </a:p>
          <a:p/>
          <a:p>
            <a:r>
              <a:t>TUJUAN: Menutup dengan checkpoint.</a:t>
            </a:r>
          </a:p>
          <a:p/>
          <a:p>
            <a:r>
              <a:t>ARAHAN TRAINER: Minta peserta menyebut satu contract dan satu secret boundary.</a:t>
            </a:r>
          </a:p>
          <a:p/>
          <a:p>
            <a:r>
              <a:t>PERTANYAAN DISKUSI: Apa fondasi yang dipakai untuk migrasi Hari 3?</a:t>
            </a:r>
          </a:p>
          <a:p/>
          <a:p>
            <a:r>
              <a:t>RUJUKAN: Flutter/OpenCode official docs.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esentation-cover-16x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132320" cy="6858000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94360" y="594360"/>
            <a:ext cx="5138928" cy="69494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722376"/>
            <a:ext cx="2084831" cy="734903"/>
          </a:xfrm>
          <a:prstGeom prst="rect">
            <a:avLst/>
          </a:prstGeom>
        </p:spPr>
      </p:pic>
      <p:pic>
        <p:nvPicPr>
          <p:cNvPr id="6" name="Picture 5" descr="imag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8" y="667512"/>
            <a:ext cx="371618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18488"/>
            <a:ext cx="1097280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7BE7F6"/>
                </a:solidFill>
                <a:latin typeface="Aptos"/>
              </a:rPr>
              <a:t>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623560" cy="1298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Aptos Display"/>
              </a:rPr>
              <a:t>Flutter UI, CRUD &amp; AI
Developer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10128"/>
            <a:ext cx="53492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BFD7E9"/>
                </a:solidFill>
                <a:latin typeface="Aptos"/>
              </a:rPr>
              <a:t>Scaffold sampai Form, CRUD end-to-end, image/file picker, dan setup OpenCode yang aman.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37944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37944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CRUD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17520" y="4251960"/>
            <a:ext cx="105156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17520" y="4315968"/>
            <a:ext cx="105156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PICKER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7096" y="4251960"/>
            <a:ext cx="1261872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97096" y="4315968"/>
            <a:ext cx="1261872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OPENCODE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5074920"/>
            <a:ext cx="5358384" cy="969264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6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303520"/>
            <a:ext cx="1828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TRAINER &amp; PENULIS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40"/>
            <a:ext cx="44805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9648" y="6345936"/>
            <a:ext cx="77724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ptos"/>
              </a:rPr>
              <a:t>01 / 39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Outcome yang harus dapat didemokan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143000"/>
            <a:ext cx="73152" cy="2157984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1016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UI foundations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Scaffold/AppBar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Row/Column/Form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43000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43000"/>
            <a:ext cx="73152" cy="2157984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4416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44168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Public CRUD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856232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GET/POST/PUT/DELETE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Mapper + tests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749039"/>
            <a:ext cx="73152" cy="2157984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8952" y="3950207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71016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Picker 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Image preview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File metadata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36208" y="3749039"/>
            <a:ext cx="5440680" cy="2157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3749039"/>
            <a:ext cx="73152" cy="2157984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0" y="3950207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0" y="4023359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3950207"/>
            <a:ext cx="452628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AI setup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4462271"/>
            <a:ext cx="4965192" cy="1289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OpenCode connected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key in Flutter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Roadmap pembelajaran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987552"/>
            <a:ext cx="7315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5D6D82"/>
                </a:solidFill>
                <a:latin typeface="Aptos"/>
              </a:rPr>
              <a:t>Satu alur: contract → implementation → evidence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536192"/>
            <a:ext cx="1024128" cy="62179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719072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08.30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47088" y="1536192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57400" y="1700784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UI composition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33872" y="1536192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71616" y="1673352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Scaffold, AppBar, Row, Column, Form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70432" y="2157984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58368" y="2414016"/>
            <a:ext cx="1024128" cy="62179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596896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10.15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088" y="2414016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57400" y="2578608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Public CRUD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33872" y="2414016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2551176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JSONPlaceholder, mapper, GET/POST/PUT/DELETE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0432" y="3035808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" y="3291840"/>
            <a:ext cx="1024128" cy="62179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3474720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13.00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847088" y="3291840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456432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Image &amp; file picker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33872" y="3291840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71616" y="3429000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Preview, metadata, lifecycle, scope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70432" y="3913632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58368" y="4169664"/>
            <a:ext cx="1024128" cy="62179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352544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14.45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47088" y="4169664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57400" y="4334256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OpenCode &amp; API key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833872" y="4169664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306824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Install, connect, model, secret boundary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170432" y="4791456"/>
            <a:ext cx="0" cy="228600"/>
          </a:xfrm>
          <a:prstGeom prst="line">
            <a:avLst/>
          </a:prstGeom>
          <a:ln w="38100">
            <a:solidFill>
              <a:srgbClr val="D5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658368" y="5047488"/>
            <a:ext cx="1024128" cy="62179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5230368"/>
            <a:ext cx="1024128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Aptos"/>
              </a:rPr>
              <a:t>16.00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847088" y="5047488"/>
            <a:ext cx="3822191" cy="6217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057400" y="5212080"/>
            <a:ext cx="3401568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0233E"/>
                </a:solidFill>
                <a:latin typeface="Aptos"/>
              </a:rPr>
              <a:t>Challenge &amp; gate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33872" y="5047488"/>
            <a:ext cx="5468112" cy="621792"/>
          </a:xfrm>
          <a:prstGeom prst="roundRect">
            <a:avLst/>
          </a:prstGeom>
          <a:solidFill>
            <a:srgbClr val="F8FBFD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71616" y="5184648"/>
            <a:ext cx="4956048" cy="3291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5D6D82"/>
                </a:solidFill>
                <a:latin typeface="Aptos"/>
              </a:rPr>
              <a:t>Tests, demo rubric, handover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ORIENTASI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Input Hari 1 → target Hari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Sudah 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Model Dart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List/detail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Local form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Navigation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Ditambahkan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Layered API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Full CRUD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Plugin picker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AI developer tool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Tetap dijaga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Validation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secret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Reproducible build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Hari 2 menghubungkan UI ke contract nyata tanpa mencampur secret atau infrastructure ke widget.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Flutter UI foundations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Pahami ownership layout dan form sebelum menghubungkannya ke network atau agent.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Bangun page shell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Atur constraints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Validasi 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05 / 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Scaffold adalah shell satu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MaterialApp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theme + route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Scaffold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page ownership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AppBar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title/actions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Body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main content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FAB / NavBar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primary/nav intent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Scaffold mengelola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App bar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Body/safe area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Snackbar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FAB/bottom navigation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Jangan lakukan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Scaffold bertumpuk tanpa alasan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Request dari build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Global BuildContext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Business rule di widget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UI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AppBar: konteks dan aksi yang konsisten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Judul screen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Subtitle modul/hari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Back navigation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Public demo label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Refresh hanya di CRUD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fake login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Tooltip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Disabled saat 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AppBar tidak menjadi tempat menaruh semua action aplikasi.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LAYOUT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Row dan Column bekerja di dalam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298448"/>
          <a:ext cx="10881359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057400"/>
                <a:gridCol w="3154680"/>
                <a:gridCol w="3749039"/>
              </a:tblGrid>
              <a:tr h="850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Widget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Main axis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Risiko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Countermeasure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Row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horizontal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overflow teks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Expanded/Flexible/Wrap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Column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vertical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tinggi tak terbatas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scroll/Expanded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ListView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vertical scroll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nested scroll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satu owner scroll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Wrap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flow baris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urutan visual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spacing/runSpacing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870448"/>
            <a:ext cx="105156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Layout Flutter adalah negosiasi constraints: parent memberi batas, child memilih ukuran.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Form mengumpulkan, memvalidasi, lalu mengirim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09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053328" cy="502920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650992" cy="42793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final formKey = GlobalKey&lt;FormState&gt;();
Form(
  key: formKey,
  child: Column(children: [
    TextFormField(
      controller: assetController,
      validator: validateAsset,
    ),
    FilledButton(
      onPressed: submitting ? null : save,
      child: const Text('Create'),
    ),
  ]),
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7449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VALIDATE BEFORE API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76288" y="1143000"/>
            <a:ext cx="4745736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76288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32320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44384" y="1344168"/>
            <a:ext cx="383133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Ownership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856232"/>
            <a:ext cx="4270248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Controller dibuat/dispose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Form key lokal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Submit guard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76288" y="3611880"/>
            <a:ext cx="4745736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76288" y="3611880"/>
            <a:ext cx="73152" cy="256032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132320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44384" y="3813048"/>
            <a:ext cx="383133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Validation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4325112"/>
            <a:ext cx="4270248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Client untuk UX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Server tetap authoritative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Field error dipetakan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Input dipertahankan saat gagal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1 — compose UI yang responsive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Buat Scaffold + AppBar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Gunakan Row untuk tiga summary card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Gunakan Column di dalam Card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Tambahkan Form + validator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Uji viewport sempit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Pastikan controller di-dispose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overflow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form terlihat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Submit valid mengubah state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Ubah Row menjadi Wrap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Tambahkan keyboard-safe scroll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60 MENIT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JSONPlaceholder public CRUD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Gunakan API publik open-source dan pisahkan schema eksternal melalui mapper yang dapat diuji.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Verifikasi endpoint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Buat mapper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Jelaskan simulasi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11 / 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API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JSONPlaceholder: publik, open-source, tanpa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HTTPS public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account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API key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Contract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/posts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GET/POST/PUT/DELETE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Known status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Write simulated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persistence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Reset on refresh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Training only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Response sukses cukup untuk latihan state—tetapi bukan bukti data tersimpan.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Verifikasi public API sebelum Flutter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44652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87782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87782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TERMINAL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04418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0">
                <a:solidFill>
                  <a:srgbClr val="D9ECF5"/>
                </a:solidFill>
                <a:latin typeface="Cascadia Mono"/>
              </a:rPr>
              <a:t>BASE=https://jsonplaceholder.typicode.com
curl "$BASE/posts?_limit=2"
curl -X POST "$BASE/posts" \
  -H 'Content-Type: application/json' \
  -d '{"title":"PMP-900",
       "body":"Simulasi",
       "userId":1}'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69480" y="1143000"/>
            <a:ext cx="435254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269480" y="1143000"/>
            <a:ext cx="73152" cy="221284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2551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2551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37576" y="134416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Checkpoint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25512" y="1856232"/>
            <a:ext cx="387705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 200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POST 201 + id 101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HTTPS reachable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69480" y="3611880"/>
            <a:ext cx="435254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69480" y="3611880"/>
            <a:ext cx="73152" cy="2542032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525512" y="381304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551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7576" y="381304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Default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5512" y="4325112"/>
            <a:ext cx="387705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local server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login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API key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Internet required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Empat operasi, empat file yang bisa dibedah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71500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106984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106984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SOURCE TREE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31266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D9ECF5"/>
                </a:solidFill>
                <a:latin typeface="Cascadia Mono"/>
              </a:rPr>
              <a:t>lib/src/data/crud/
├── read_inspections.dart
├── create_inspection.dart
├── update_inspection.dart
└── delete_inspection.dart
api_client.dart  // facade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ONE INTENT • ONE 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143000"/>
            <a:ext cx="505663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65392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21424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34416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Urutan bedah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1856232"/>
            <a:ext cx="4581144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1  Read + mapper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2  Create + payload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3  Update + stable ID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  Delete + confirmation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3611880"/>
            <a:ext cx="50566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21424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1424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81304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Shared helper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325112"/>
            <a:ext cx="4581144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ApiException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JsonResponseDecoder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10-second timeout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MockClient seam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01 • ReadInspections — GET dan mapping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97280"/>
            <a:ext cx="6537960" cy="510235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43584"/>
            <a:ext cx="170992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07592"/>
            <a:ext cx="170992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READ_INSPECTIONS.DART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19072"/>
            <a:ext cx="6135624" cy="4352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40" b="0">
                <a:solidFill>
                  <a:srgbClr val="D9ECF5"/>
                </a:solidFill>
                <a:latin typeface="Cascadia Mono"/>
              </a:rPr>
              <a:t>Future&lt;List&lt;Inspection&gt;&gt; call() async {
  final response = await client.get(
    Uri.parse(
      '$baseUrl/posts?_limit=20',
    ),
  );
  final posts = JsonResponseDecoder.list(
    response, expectedStatus: 200,
  );
  return posts
      .map(JsonPlaceholderMapper.fromPost)
      .toList();
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25272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GET → LIST → DOMAIN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143000"/>
            <a:ext cx="426110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0920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6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6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134416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Bedah 3 titik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1856232"/>
            <a:ext cx="378561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URL + query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Expected 200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Post →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3611880"/>
            <a:ext cx="426110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3611880"/>
            <a:ext cx="73152" cy="2542032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6952" y="381304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81304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4325112"/>
            <a:ext cx="378561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Timeout di boundary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Invalid JSON typed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Repository boleh fallback cache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CREATE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02 • CreateInspection — POST dan payload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78992"/>
            <a:ext cx="6537960" cy="5120640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25296"/>
            <a:ext cx="1773936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89304"/>
            <a:ext cx="177393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CREATE_INSPECTION.DART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00784"/>
            <a:ext cx="6135624" cy="43708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70" b="0">
                <a:solidFill>
                  <a:srgbClr val="D9ECF5"/>
                </a:solidFill>
                <a:latin typeface="Cascadia Mono"/>
              </a:rPr>
              <a:t>Future&lt;Inspection&gt; call(fields) async {
  final response = await client.post(
    Uri.parse('$baseUrl/posts'),
    headers: const {
      'Content-Type': 'application/json',
    },
    body: jsonEncode(
      JsonPlaceholderMapper.toPost(fields),
    ),
  );
  final post = JsonResponseDecoder.object(
    response, expectedStatus: 201,
  );
  return JsonPlaceholderMapper.fromPost(post);
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234440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POST → 201 • SIMULATED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1143000"/>
            <a:ext cx="4654296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67728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34416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Before request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56232"/>
            <a:ext cx="4178808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Form valid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double submit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JSON contract exact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7728" y="3611880"/>
            <a:ext cx="4654296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7728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0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81304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After request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325112"/>
            <a:ext cx="4178808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response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Insert local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Show SIMULATED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Reset removes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UPDATE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03 • UpdateInspection — PUT dengan stable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024128"/>
            <a:ext cx="6537960" cy="5175504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170432"/>
            <a:ext cx="1773936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234440"/>
            <a:ext cx="177393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UPDATE_INSPECTION.DART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645920"/>
            <a:ext cx="6135624" cy="44256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90" b="0">
                <a:solidFill>
                  <a:srgbClr val="D9ECF5"/>
                </a:solidFill>
                <a:latin typeface="Cascadia Mono"/>
              </a:rPr>
              <a:t>Future&lt;Inspection&gt; call(
  String id, Map&lt;String, dynamic&gt; fields,
) async {
  final response = await client.put(
    Uri.parse('$baseUrl/posts/$id'),
    headers: const {
      'Content-Type': 'application/json',
    },
    body: jsonEncode(
      JsonPlaceholderMapper.toPost(fields, id: id),
    ),
  );
  final post = JsonResponseDecoder.object(
    response, expectedStatus: 200,
  );
  return JsonPlaceholderMapper.fromPost(post);
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179576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PATH ID = PAYLOAD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143000"/>
            <a:ext cx="426110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60920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1695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1695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9016" y="134416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Before PUT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6952" y="1856232"/>
            <a:ext cx="378561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Prefill form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Validate full body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Keep stable ID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60920" y="3611880"/>
            <a:ext cx="426110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60920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16952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1695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29016" y="3813048"/>
            <a:ext cx="334670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After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16952" y="4325112"/>
            <a:ext cx="378561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server result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Replace same ID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Preserve list order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DELETE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04 • DeleteInspection — DELETE tanpa model response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53796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1773936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1773936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DELETE_INSPECTION.DART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13562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10" b="0">
                <a:solidFill>
                  <a:srgbClr val="D9ECF5"/>
                </a:solidFill>
                <a:latin typeface="Cascadia Mono"/>
              </a:rPr>
              <a:t>Future&lt;void&gt; call(String id) async {
  final response = await client.delete(
    Uri.parse('$baseUrl/posts/$id'),
  );
  JsonResponseDecoder.empty(
    response,
    expectedStatuses: const {200, 204},
  );
}
// Controller removes the local item
// only after this Future succeeds.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DELETE → 200 / 204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1143000"/>
            <a:ext cx="4654296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67728" y="1143000"/>
            <a:ext cx="73152" cy="2212848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34416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34416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Protect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56232"/>
            <a:ext cx="4178808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Name target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Cancel default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Disable while request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7728" y="3611880"/>
            <a:ext cx="4654296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7728" y="3611880"/>
            <a:ext cx="73152" cy="2542032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0" y="381304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81304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Handle result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325112"/>
            <a:ext cx="4178808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200 accepted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Remove local item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Banner remains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Reset restores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FACADE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ApiClient menjaga pemanggilan tetap sederhana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19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571500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1325880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1325880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API_CLIENT.DART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31266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D9ECF5"/>
                </a:solidFill>
                <a:latin typeface="Cascadia Mono"/>
              </a:rPr>
              <a:t>Future&lt;List&lt;Inspection&gt;&gt; fetchInspections()
  =&gt; read();
Future&lt;Inspection&gt; createInspection(fields)
  =&gt; create(fields);
Future&lt;Inspection&gt; updateInspection(id, fields)
  =&gt; update(id, fields);
Future&lt;void&gt; deleteInspection(id)
  =&gt; delete(id);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FACADE → 4 OPERATIONS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65392" y="1143000"/>
            <a:ext cx="5056632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65392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821424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21424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34416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Aplikasi memanggil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21424" y="1856232"/>
            <a:ext cx="4581144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Repository → facade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Nama intent jelas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UI tidak tahu HTTP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65392" y="3611880"/>
            <a:ext cx="5056632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65392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821424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21424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33488" y="3813048"/>
            <a:ext cx="41422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Trainer dapat membuka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1424" y="4325112"/>
            <a:ext cx="4581144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Satu operation file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Satu MockClient test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Satu failure scenario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Public API bukan tempat menaruh API key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20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JSONPlaceholder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login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key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Public demo data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HTTPS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AI provider key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Milik tool/backend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pernah di Flutter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Quota + rotation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Redact dari log/prompt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Endpoint publik dan provider credential mempunyai threat model yang berbeda.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CRUD perlu state dan failure yang eksplisit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loading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data/empty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cached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error/retry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Write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submitting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success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simulated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reset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Delete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confirm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deleting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200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local removal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Satu bool global tidak cukup menjelaskan semua operasi bersamaan.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2 — CRUD simulasi end-to-end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Curl public /posts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GET + mapper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POST simulated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PUT record terpilih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DELETE + confirmation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Reset membuktikan no 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Empat method berhasil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Banner terlihat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MockClient tests hijau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 badge SIMULATED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Map /todos tanpa ubah UI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90 MENIT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Image &amp; file picker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Plugin mengakses capability platform; UI harus menjelaskan apakah file hanya preview atau benar-benar di-upload.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Pilih plugin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Kelola lifecycle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Jaga scope data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23 / 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Image picker atau file picker?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" y="1298448"/>
          <a:ext cx="1088136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2880360"/>
                <a:gridCol w="4343400"/>
              </a:tblGrid>
              <a:tr h="850392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Kebutuhan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Gunakan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Output latihan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Galeri/camera image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image_picker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XFile + preview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PDF/dokumen/file umum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file_picker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PlatformFile + metadata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Upload server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HTTP multipart/storage SDK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out of scope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850392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Persist local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app documents directory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out of scope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870448"/>
            <a:ext cx="1051560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Pilih plugin berdasarkan capability dan contract—bukan popularitas package.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IMAGE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Image picker: cancel bukan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144768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742432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9ECF5"/>
                </a:solidFill>
                <a:latin typeface="Cascadia Mono"/>
              </a:rPr>
              <a:t>final selected = await ImagePicker().pickImage(
  source: ImageSource.gallery,
  maxWidth: 1600,
  imageQuality: 82,
);
if (!mounted || selected == null) return;
setState(() {
  image = selected;
  file = null;
});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9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XFILE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1143000"/>
            <a:ext cx="4654296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67728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34416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Configuration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56232"/>
            <a:ext cx="4178808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iOS usage description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Android plugin setup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Physical device for camera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7728" y="3611880"/>
            <a:ext cx="4654296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7728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0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U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81304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325112"/>
            <a:ext cx="4178808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Cancel keeps state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Preview bounded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Clear action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Error is actionable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FILE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File picker: API versi terbaru dan metadata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144768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DART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5742432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D9ECF5"/>
                </a:solidFill>
                <a:latin typeface="Cascadia Mono"/>
              </a:rPr>
              <a:t>final selected = await FilePicker.pickFile();
if (!mounted || selected == null) return;
setState(() {
  file = selected;
  image = null;
});
final name = selected.name;
final bytes = selected.lengthSync();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9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FILE_PICKER 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67728" y="1143000"/>
            <a:ext cx="4654296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67728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223760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35824" y="134416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Perhatikan versi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1856232"/>
            <a:ext cx="4178808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Baca installed package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API dapat berubah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Lockfile disimpan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67728" y="3611880"/>
            <a:ext cx="4654296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67728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0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5824" y="3813048"/>
            <a:ext cx="3739896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Metadata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325112"/>
            <a:ext cx="4178808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Name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URI/path mungkin null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Size mungkin unknown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Jangan baca file besar sekaligus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Selected ≠ persisted ≠ uploaded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Selected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State lokal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Preview/name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Dapat hilang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Belum server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Persisted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Copy storage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Metadata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Cleanup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Privacy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Uploaded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Multipart/presigned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Progress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Retry/idempotency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Retention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UI Hari 2 secara eksplisit menyatakan lampiran belum di-upload.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Picker failure, privacy, dan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mounted check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single active pick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cancel safe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dispose owner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0832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70832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626864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26864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8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Privacy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26864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minimum access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production photo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logging path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clear policy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74736" y="1188720"/>
            <a:ext cx="345643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74736" y="1188720"/>
            <a:ext cx="73152" cy="45262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0768" y="138988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0768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1389888"/>
            <a:ext cx="254203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Performance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30768" y="1901952"/>
            <a:ext cx="298094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Resize image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bounded preview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stream large file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bytes in state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Plugin success di simulator belum membuktikan permission dan device behavior.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3 — image &amp; file picker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29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Pasang dua package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Tambahkan iOS usage description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image + preview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file + metadata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Cancel dan clear aman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Label 'belum di-upload' terlihat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crash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Tidak ada file bytes di API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Analyzer/test hijau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Batasi extension/size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Buat adapter picker yang dapat di-fake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60 MENIT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841248"/>
            <a:ext cx="1463040" cy="7315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800" b="1">
                <a:solidFill>
                  <a:srgbClr val="16C6E7"/>
                </a:solidFill>
                <a:latin typeface="Aptos Display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874519"/>
            <a:ext cx="6675120" cy="7863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Aptos Display"/>
              </a:rPr>
              <a:t>OpenCode &amp; API key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2779776"/>
            <a:ext cx="6126480" cy="685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CD4E6"/>
                </a:solidFill>
                <a:latin typeface="Aptos"/>
              </a:rPr>
              <a:t>AI coding agent membantu membaca dan mengubah repository; secret dan keputusan engineering tetap dikendalikan manusia.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960120"/>
            <a:ext cx="3931920" cy="4800600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1740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389888"/>
            <a:ext cx="3154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SETELAH BAGIAN INI</a:t>
            </a:r>
          </a:p>
        </p:txBody>
      </p:sp>
      <p:sp>
        <p:nvSpPr>
          <p:cNvPr id="8" name="Oval 7"/>
          <p:cNvSpPr/>
          <p:nvPr/>
        </p:nvSpPr>
        <p:spPr>
          <a:xfrm>
            <a:off x="7818120" y="1856231"/>
            <a:ext cx="420624" cy="420624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1956815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071D3B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30768" y="1874519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Install &amp; connect</a:t>
            </a:r>
          </a:p>
        </p:txBody>
      </p:sp>
      <p:sp>
        <p:nvSpPr>
          <p:cNvPr id="11" name="Oval 10"/>
          <p:cNvSpPr/>
          <p:nvPr/>
        </p:nvSpPr>
        <p:spPr>
          <a:xfrm>
            <a:off x="7818120" y="2880360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2980944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898648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Protect API key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3904487"/>
            <a:ext cx="420624" cy="420624"/>
          </a:xfrm>
          <a:prstGeom prst="ellipse">
            <a:avLst/>
          </a:prstGeom>
          <a:solidFill>
            <a:srgbClr val="174F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18120" y="4005071"/>
            <a:ext cx="420624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30768" y="3922775"/>
            <a:ext cx="2487168" cy="5303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Review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6355080"/>
            <a:ext cx="16002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HARI 2  •  30 / 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INSTALL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Install OpenCode—pin jalur major untuk kelas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31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44652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87782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87782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TERMINAL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04418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D9ECF5"/>
                </a:solidFill>
                <a:latin typeface="Cascadia Mono"/>
              </a:rPr>
              <a:t># OpenCode 1 stable
curl -fsSL https://opencode.ai/install | bash
# atau macOS/Linux Homebrew
brew install anomalyco/tap/opencode
# atau Node.js
npm install -g opencode-ai
# verify
opencode --version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CHECK OFFICIAL DOCS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143000"/>
            <a:ext cx="435254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1143000"/>
            <a:ext cx="73152" cy="221284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2551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7576" y="134416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Sebelum kelas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1856232"/>
            <a:ext cx="387705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major version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Dry-run installer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Catat 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3611880"/>
            <a:ext cx="435254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80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25512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381304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Windows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4325112"/>
            <a:ext cx="387705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WSL recommended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Work in project folder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Verify terminal access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admin improvisation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Hubungkan provider, model, lalu init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32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opencode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project root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/connect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enter key privately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/models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approved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/init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review AGENTS.md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Read-only ask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inspect first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Checkpoint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Version printed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Provider connected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Model selectable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AGENTS.md reviewed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Governance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Training account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Quota/budget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Retention policy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Revoke procedure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API key tidak boleh masuk Flutter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33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234440"/>
          <a:ext cx="1104595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20240"/>
                <a:gridCol w="6016752"/>
              </a:tblGrid>
              <a:tr h="7543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Lokasi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Aman?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Alasan / alternatif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Dart constant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Tidak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Mudah diekstrak dari app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--dart-define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Tidak untuk secret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Nilai masuk build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Asset/.env bundled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Tidak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Terkirim ke pengguna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OpenCode /connect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Tool credential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Untuk developer workstation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Backend secret manager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Ya untuk runtime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Proxy + auth + quota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961888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D84A4A"/>
                </a:solidFill>
                <a:latin typeface="Aptos"/>
              </a:rPr>
              <a:t>Obfuscation menyulitkan pembacaan; tidak mengubah client menjadi secret store.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Gunakan agent untuk memahami repo sebelum edit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34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325880"/>
            <a:ext cx="2077516" cy="713232"/>
          </a:xfrm>
          <a:prstGeom prst="roundRect">
            <a:avLst/>
          </a:prstGeom>
          <a:solidFill>
            <a:srgbClr val="0E5A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Ask</a:t>
            </a:r>
          </a:p>
        </p:txBody>
      </p:sp>
      <p:sp>
        <p:nvSpPr>
          <p:cNvPr id="11" name="Chevron 10"/>
          <p:cNvSpPr/>
          <p:nvPr/>
        </p:nvSpPr>
        <p:spPr>
          <a:xfrm>
            <a:off x="2671876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goal + scope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9036" y="1325880"/>
            <a:ext cx="2077516" cy="713232"/>
          </a:xfrm>
          <a:prstGeom prst="round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82188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Inspect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3985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9036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source + contract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51145" y="1325880"/>
            <a:ext cx="2077516" cy="713232"/>
          </a:xfrm>
          <a:prstGeom prst="round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4297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071D3B"/>
                </a:solidFill>
                <a:latin typeface="Aptos"/>
              </a:rPr>
              <a:t>Plan</a:t>
            </a:r>
          </a:p>
        </p:txBody>
      </p:sp>
      <p:sp>
        <p:nvSpPr>
          <p:cNvPr id="19" name="Chevron 18"/>
          <p:cNvSpPr/>
          <p:nvPr/>
        </p:nvSpPr>
        <p:spPr>
          <a:xfrm>
            <a:off x="7156094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1145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small steps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93254" y="1325880"/>
            <a:ext cx="2077516" cy="713232"/>
          </a:xfrm>
          <a:prstGeom prst="round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6406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Patch</a:t>
            </a:r>
          </a:p>
        </p:txBody>
      </p:sp>
      <p:sp>
        <p:nvSpPr>
          <p:cNvPr id="23" name="Chevron 22"/>
          <p:cNvSpPr/>
          <p:nvPr/>
        </p:nvSpPr>
        <p:spPr>
          <a:xfrm>
            <a:off x="9398203" y="1554480"/>
            <a:ext cx="109728" cy="256032"/>
          </a:xfrm>
          <a:prstGeom prst="chevron">
            <a:avLst/>
          </a:prstGeom>
          <a:solidFill>
            <a:srgbClr val="5D6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3254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reviewable diff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35363" y="1325880"/>
            <a:ext cx="2077516" cy="713232"/>
          </a:xfrm>
          <a:prstGeom prst="roundRect">
            <a:avLst/>
          </a:prstGeom>
          <a:solidFill>
            <a:srgbClr val="F59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8515" y="1527048"/>
            <a:ext cx="1931212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Aptos"/>
              </a:rPr>
              <a:t>Verify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35363" y="2167128"/>
            <a:ext cx="2077516" cy="6583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D6D82"/>
                </a:solidFill>
                <a:latin typeface="Aptos"/>
              </a:rPr>
              <a:t>format/test/diff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3310128"/>
            <a:ext cx="5349240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3310128"/>
            <a:ext cx="73152" cy="230428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3511296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5024" y="3511296"/>
            <a:ext cx="44348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Prompt awal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23360"/>
            <a:ext cx="4873752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Ringkas lib/src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Temukan CRUD boundaries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Jangan edit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Daftar unknown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36208" y="3310128"/>
            <a:ext cx="5376672" cy="23042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36208" y="3310128"/>
            <a:ext cx="73152" cy="230428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492240" y="3511296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3584448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04304" y="3511296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Human checkpoint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023360"/>
            <a:ext cx="4901184" cy="1435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Summary benar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Scope disetujui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Diff dibaca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Tests benar-benar lulus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Prompt yang membantu, bukan mengambil alih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35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188720"/>
            <a:ext cx="5358384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1188720"/>
            <a:ext cx="73152" cy="4526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138988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35024" y="1389888"/>
            <a:ext cx="444398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Berikan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1901952"/>
            <a:ext cx="4882896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Goal dan scope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Files/context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Acceptance criteria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Commands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Output format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6208" y="1188720"/>
            <a:ext cx="5376672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188720"/>
            <a:ext cx="73152" cy="4526280"/>
          </a:xfrm>
          <a:prstGeom prst="rect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1389888"/>
            <a:ext cx="384048" cy="384048"/>
          </a:xfrm>
          <a:prstGeom prst="ellipse">
            <a:avLst/>
          </a:prstGeom>
          <a:solidFill>
            <a:srgbClr val="D84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6304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04304" y="1389888"/>
            <a:ext cx="44622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Larangan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01952"/>
            <a:ext cx="4901184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secret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invented API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rewrite massal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silent dependency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fake test claim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961888"/>
            <a:ext cx="1065276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Agent mempercepat pekerjaan; contract dan keputusan tetap milik tim.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PRAKTIK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Lab 4 — OpenCode setup &amp; read-only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36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720840" cy="4983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143000"/>
            <a:ext cx="73152" cy="4983480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04672" y="134416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LAB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1344168"/>
            <a:ext cx="580644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Tugas inti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856232"/>
            <a:ext cx="6245352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Install dan cek version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Jalankan /connect tanpa menampilkan key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Pilih model melalui /models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Jalankan /init; review AGENTS.md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Minta ringkasan + peta CRUD</a:t>
            </a:r>
          </a:p>
          <a:p>
            <a:pPr>
              <a:spcAft>
                <a:spcPts val="500"/>
              </a:spcAft>
              <a:defRPr sz="14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Pastikan tidak ada edit/secret lain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71231" y="1143000"/>
            <a:ext cx="4050791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71231" y="1143000"/>
            <a:ext cx="73152" cy="2240280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827263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27263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7" y="13441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 / DoD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3" y="1856232"/>
            <a:ext cx="357530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Provider connected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AGENTS.md direview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Summary benar; no secret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71231" y="3657600"/>
            <a:ext cx="4050791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71231" y="3657600"/>
            <a:ext cx="73152" cy="2468880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827263" y="385876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27263" y="39319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858768"/>
            <a:ext cx="3136391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Stretch challenge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27263" y="4370832"/>
            <a:ext cx="3575303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Minta test plan</a:t>
            </a:r>
          </a:p>
          <a:p>
            <a:pPr>
              <a:spcAft>
                <a:spcPts val="500"/>
              </a:spcAft>
              <a:defRPr sz="12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Review satu patch kecil dengan approval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46920" y="896112"/>
            <a:ext cx="166420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46920" y="960120"/>
            <a:ext cx="166420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45 MENIT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QUALITY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Semua layer harus hijau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37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143000"/>
            <a:ext cx="6446520" cy="5010912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89304"/>
            <a:ext cx="786384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353312"/>
            <a:ext cx="786384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764792"/>
            <a:ext cx="6044184" cy="42611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10" b="0">
                <a:solidFill>
                  <a:srgbClr val="D9ECF5"/>
                </a:solidFill>
                <a:latin typeface="Cascadia Mono"/>
              </a:rPr>
              <a:t># Flutter
fvm dart format --output=none \
  --set-exit-if-changed lib test
fvm flutter analyze
fvm flutter test
fvm flutter build apk --debug
# Public API smoke
curl 'https://jsonplaceholder.typicode.com/posts?_limit=1'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1" y="1298448"/>
            <a:ext cx="1627632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>
                <a:solidFill>
                  <a:srgbClr val="D1A33C"/>
                </a:solidFill>
                <a:latin typeface="Aptos"/>
              </a:rPr>
              <a:t>APP + PUBLIC CONTRACT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1143000"/>
            <a:ext cx="4352544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69480" y="1143000"/>
            <a:ext cx="73152" cy="2212848"/>
          </a:xfrm>
          <a:prstGeom prst="rect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25512" y="1344168"/>
            <a:ext cx="384048" cy="384048"/>
          </a:xfrm>
          <a:prstGeom prst="ellipse">
            <a:avLst/>
          </a:prstGeom>
          <a:solidFill>
            <a:srgbClr val="19A9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25512" y="141732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7576" y="134416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5512" y="1856232"/>
            <a:ext cx="3877056" cy="1344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8 Flutter tests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4 HTTP status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Simulated CRUD demo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69480" y="3611880"/>
            <a:ext cx="4352544" cy="2542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69480" y="3611880"/>
            <a:ext cx="73152" cy="2542032"/>
          </a:xfrm>
          <a:prstGeom prst="rect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525512" y="3813048"/>
            <a:ext cx="384048" cy="384048"/>
          </a:xfrm>
          <a:prstGeom prst="ellipse">
            <a:avLst/>
          </a:prstGeom>
          <a:solidFill>
            <a:srgbClr val="D1A3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88620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37576" y="3813048"/>
            <a:ext cx="3438144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0233E"/>
                </a:solidFill>
                <a:latin typeface="Aptos"/>
              </a:rPr>
              <a:t>Manual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4325112"/>
            <a:ext cx="3877056" cy="1673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Picker cancel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Device permission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No secret in diff</a:t>
            </a:r>
          </a:p>
          <a:p>
            <a:pPr>
              <a:spcAft>
                <a:spcPts val="500"/>
              </a:spcAft>
              <a:defRPr sz="1300">
                <a:solidFill>
                  <a:srgbClr val="5D6D82"/>
                </a:solidFill>
                <a:latin typeface="Aptos"/>
              </a:defRPr>
            </a:pPr>
            <a:r>
              <a:rPr>
                <a:latin typeface="Aptos"/>
              </a:rPr>
              <a:t>•  API key not in app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Tantangan dan rubrik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38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1234440"/>
          <a:ext cx="11045952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5486400"/>
                <a:gridCol w="3730752"/>
              </a:tblGrid>
              <a:tr h="7543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Level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Challenge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Evidence</a:t>
                      </a:r>
                    </a:p>
                  </a:txBody>
                  <a:tcPr marL="91440" marR="91440">
                    <a:solidFill>
                      <a:srgbClr val="0B2A55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Core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UI + full CRUD + picker + AI setup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demo + tests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Bronze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Search/filter dan empty/error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state evidence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Silver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Picker adapter + fake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unit/widget test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Gold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Attachment upload PRD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contract + threat model</a:t>
                      </a:r>
                    </a:p>
                  </a:txBody>
                  <a:tcPr marL="91440" marR="91440" marT="54864" marB="54864">
                    <a:solidFill>
                      <a:srgbClr val="F5F8FB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Platinum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Agent review skill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0233E"/>
                          </a:solidFill>
                          <a:latin typeface="Aptos"/>
                        </a:defRPr>
                      </a:pPr>
                      <a:r>
                        <a:t>SKILL.md + peer review</a:t>
                      </a:r>
                    </a:p>
                  </a:txBody>
                  <a:tcPr marL="91440" marR="91440" marT="54864" marB="5486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" y="5961888"/>
            <a:ext cx="1051560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0E5AA7"/>
                </a:solidFill>
                <a:latin typeface="Aptos"/>
              </a:rPr>
              <a:t>Demo 7 menit: UI 1 • CRUD 3 • picker 1 • AI security 1 • evidence 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71D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749808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8912" y="173736"/>
            <a:ext cx="1874519" cy="228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7BE7F6"/>
                </a:solidFill>
                <a:latin typeface="Aptos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" y="347472"/>
            <a:ext cx="96012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Aptos Display"/>
              </a:rPr>
              <a:t>Build the UI. Respect the contract. Protect the key.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4200" y="265176"/>
            <a:ext cx="960120" cy="2194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39 / 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6510528"/>
            <a:ext cx="640080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PT. Dok Pantai Lamongan  •  Flutter Professional  •  Hari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6510528"/>
            <a:ext cx="3931920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5D6D82"/>
                </a:solidFill>
                <a:latin typeface="Aptos"/>
              </a:rPr>
              <a:t>Damar Galih Aji Pradana, S.Tr.Kom.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051560"/>
            <a:ext cx="3840480" cy="7772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16C6E7"/>
                </a:solidFill>
                <a:latin typeface="Aptos Display"/>
              </a:rPr>
              <a:t>day-2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901952"/>
            <a:ext cx="6400800" cy="42062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Aptos"/>
              </a:rPr>
              <a:t>UI → CRUD → Picker → AI workflow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78608"/>
            <a:ext cx="5623560" cy="2852928"/>
          </a:xfrm>
          <a:prstGeom prst="roundRect">
            <a:avLst/>
          </a:prstGeom>
          <a:solidFill>
            <a:srgbClr val="091827"/>
          </a:solidFill>
          <a:ln w="12700">
            <a:solidFill>
              <a:srgbClr val="0B2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50392" y="2724912"/>
            <a:ext cx="1389888" cy="301752"/>
          </a:xfrm>
          <a:prstGeom prst="roundRect">
            <a:avLst/>
          </a:prstGeom>
          <a:solidFill>
            <a:srgbClr val="0B2A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2788920"/>
            <a:ext cx="1389888" cy="1554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7BE7F6"/>
                </a:solidFill>
                <a:latin typeface="Aptos"/>
              </a:rPr>
              <a:t>FINAL CHECKPOINT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" y="3200400"/>
            <a:ext cx="5221224" cy="21031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20" b="0">
                <a:solidFill>
                  <a:srgbClr val="D9ECF5"/>
                </a:solidFill>
                <a:latin typeface="Cascadia Mono"/>
              </a:rPr>
              <a:t>fvm flutter analyze
fvm flutter test
fvm flutter build apk --debug
git diff --check
git commit -m "Use JSONPlaceholder CRUD simulation"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29400" y="1051560"/>
            <a:ext cx="4919472" cy="4379976"/>
          </a:xfrm>
          <a:prstGeom prst="roundRect">
            <a:avLst/>
          </a:prstGeom>
          <a:solidFill>
            <a:srgbClr val="0B2A55"/>
          </a:solidFill>
          <a:ln w="12700">
            <a:solidFill>
              <a:srgbClr val="D5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29400" y="1051560"/>
            <a:ext cx="73152" cy="4379976"/>
          </a:xfrm>
          <a:prstGeom prst="rect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885432" y="1252728"/>
            <a:ext cx="384048" cy="384048"/>
          </a:xfrm>
          <a:prstGeom prst="ellipse">
            <a:avLst/>
          </a:prstGeom>
          <a:solidFill>
            <a:srgbClr val="16C6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1325880"/>
            <a:ext cx="384048" cy="1645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071D3B"/>
                </a:solidFill>
                <a:latin typeface="Apto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7496" y="1252728"/>
            <a:ext cx="4005072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Aptos"/>
              </a:rPr>
              <a:t>Bawa ke Hari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85432" y="1764792"/>
            <a:ext cx="4443984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Flutter UI structure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CRUD contract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Picker boundary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OpenCode connected</a:t>
            </a:r>
          </a:p>
          <a:p>
            <a:pPr>
              <a:spcAft>
                <a:spcPts val="500"/>
              </a:spcAft>
              <a:defRPr sz="1400">
                <a:solidFill>
                  <a:srgbClr val="D5E7F2"/>
                </a:solidFill>
                <a:latin typeface="Aptos"/>
              </a:defRPr>
            </a:pPr>
            <a:r>
              <a:rPr>
                <a:latin typeface="Aptos"/>
              </a:rPr>
              <a:t>•  Secret discipline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961888"/>
            <a:ext cx="10835640" cy="2560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7BE7F6"/>
                </a:solidFill>
                <a:latin typeface="Aptos"/>
              </a:rPr>
              <a:t>Rujukan: docs.flutter.dev • jsonplaceholder.typicode.com • opencode.ai/docs • pub.dev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25328" y="6309360"/>
            <a:ext cx="868680" cy="2011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7BE7F6"/>
                </a:solidFill>
                <a:latin typeface="Aptos"/>
              </a:rPr>
              <a:t>39 / 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